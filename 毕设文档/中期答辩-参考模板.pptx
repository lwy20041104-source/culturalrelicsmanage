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59" r:id="rId6"/>
    <p:sldId id="270" r:id="rId7"/>
    <p:sldId id="286" r:id="rId8"/>
    <p:sldId id="261" r:id="rId9"/>
    <p:sldId id="289" r:id="rId10"/>
    <p:sldId id="287" r:id="rId11"/>
    <p:sldId id="272" r:id="rId12"/>
    <p:sldId id="262" r:id="rId13"/>
    <p:sldId id="280" r:id="rId14"/>
    <p:sldId id="263" r:id="rId15"/>
    <p:sldId id="288" r:id="rId16"/>
    <p:sldId id="26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8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魏吉鸿" initials="魏吉鸿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A0A5"/>
    <a:srgbClr val="5DB6C3"/>
    <a:srgbClr val="767571"/>
    <a:srgbClr val="ABD7FC"/>
    <a:srgbClr val="83CFD9"/>
    <a:srgbClr val="41719C"/>
    <a:srgbClr val="028CE0"/>
    <a:srgbClr val="E6E6E6"/>
    <a:srgbClr val="3B939F"/>
    <a:srgbClr val="D3D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4" autoAdjust="0"/>
    <p:restoredTop sz="92179" autoAdjust="0"/>
  </p:normalViewPr>
  <p:slideViewPr>
    <p:cSldViewPr snapToGrid="0" showGuides="1">
      <p:cViewPr varScale="1">
        <p:scale>
          <a:sx n="76" d="100"/>
          <a:sy n="76" d="100"/>
        </p:scale>
        <p:origin x="-893" y="-91"/>
      </p:cViewPr>
      <p:guideLst>
        <p:guide orient="horz" pos="2142"/>
        <p:guide pos="8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6-02-26T22:29:29.280" idx="1">
    <p:pos x="7872" y="-148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分布式系统通过建立</a:t>
            </a:r>
            <a:r>
              <a:rPr lang="en-US" altLang="zh-CN" dirty="0"/>
              <a:t>P2P</a:t>
            </a:r>
            <a:r>
              <a:rPr lang="zh-CN" altLang="en-US" dirty="0"/>
              <a:t>网络实现数据的实时获取功能，此外在网络中的一个节点出现故障不会影响整个系统的运行。同时数据上链需要全网节点的验证通过才可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主要是体现在利用椭圆曲线算法实现账户地址，公私钥，以及通过私钥进行数字签名，同时通过不可逆的哈希</a:t>
            </a:r>
            <a:r>
              <a:rPr lang="en-US" altLang="zh-CN" dirty="0"/>
              <a:t>sha256</a:t>
            </a:r>
            <a:r>
              <a:rPr lang="zh-CN" altLang="en-US" dirty="0"/>
              <a:t>算法实现区块数据加密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以太坊推出智能合约，用户可以自己编写发布智能合约极大提升灵活性，同时智能合约一旦发布不可逆。在支付系统上可以使转账记录等信息以代码形式结构化，增强了资金的监管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零信任主要解决区块链拜占庭将军问题，促进全网节点达成共识，确保传递信息的一致性和不可篡改性。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BS</a:t>
            </a:r>
            <a:r>
              <a:rPr lang="zh-CN" altLang="en-US" dirty="0"/>
              <a:t>架构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8" Type="http://schemas.openxmlformats.org/officeDocument/2006/relationships/notesSlide" Target="../notesSlides/notesSlide3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37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image" Target="../media/image4.png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61.xml"/><Relationship Id="rId25" Type="http://schemas.openxmlformats.org/officeDocument/2006/relationships/tags" Target="../tags/tag60.xml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image" Target="../media/image4.png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30118" y="-102893"/>
            <a:ext cx="12550140" cy="722375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5282" y="1177665"/>
            <a:ext cx="5041436" cy="3001725"/>
          </a:xfrm>
          <a:prstGeom prst="rect">
            <a:avLst/>
          </a:prstGeom>
          <a:noFill/>
        </p:spPr>
      </p:pic>
      <p:sp>
        <p:nvSpPr>
          <p:cNvPr id="5" name="文本框 4"/>
          <p:cNvSpPr txBox="1"/>
          <p:nvPr/>
        </p:nvSpPr>
        <p:spPr>
          <a:xfrm>
            <a:off x="1938189" y="4178395"/>
            <a:ext cx="8308001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3AAFBF"/>
                </a:solidFill>
                <a:latin typeface="方正剪纸简体" panose="03000509000000000000" pitchFamily="65" charset="-122"/>
                <a:ea typeface="方正剪纸简体" panose="03000509000000000000" pitchFamily="65" charset="-122"/>
              </a:rPr>
              <a:t>博物馆文物数字化管理系统</a:t>
            </a:r>
            <a:endParaRPr lang="zh-CN" altLang="en-US" sz="4800" b="1" dirty="0">
              <a:solidFill>
                <a:srgbClr val="3AAFBF"/>
              </a:solidFill>
              <a:latin typeface="方正剪纸简体" panose="03000509000000000000" pitchFamily="65" charset="-122"/>
              <a:ea typeface="方正剪纸简体" panose="03000509000000000000" pitchFamily="65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9471" y="5852931"/>
            <a:ext cx="360067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40B1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 </a:t>
            </a:r>
            <a:r>
              <a:rPr lang="en-US" altLang="zh-CN" sz="1400" dirty="0" smtClean="0">
                <a:solidFill>
                  <a:srgbClr val="40B1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 smtClean="0">
                <a:solidFill>
                  <a:srgbClr val="40B1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刘文煜  </a:t>
            </a:r>
            <a:r>
              <a:rPr lang="en-US" altLang="zh-CN" sz="1400" dirty="0">
                <a:solidFill>
                  <a:srgbClr val="40B1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</a:t>
            </a:r>
            <a:r>
              <a:rPr lang="zh-CN" altLang="en-US" sz="1400" dirty="0">
                <a:solidFill>
                  <a:srgbClr val="40B1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 </a:t>
            </a:r>
            <a:r>
              <a:rPr lang="en-US" altLang="zh-CN" sz="1400" dirty="0" smtClean="0">
                <a:solidFill>
                  <a:srgbClr val="40B1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400" dirty="0" smtClean="0">
                <a:solidFill>
                  <a:srgbClr val="40B1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杜红</a:t>
            </a:r>
            <a:r>
              <a:rPr lang="zh-CN" altLang="en-US" sz="1400" dirty="0" smtClean="0">
                <a:solidFill>
                  <a:srgbClr val="40B1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林</a:t>
            </a:r>
            <a:endParaRPr lang="zh-CN" altLang="en-US" sz="1400" dirty="0" smtClean="0">
              <a:solidFill>
                <a:srgbClr val="40B1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512873" y="2171081"/>
            <a:ext cx="1158634" cy="1158634"/>
            <a:chOff x="-3628390" y="3175"/>
            <a:chExt cx="2249488" cy="2249488"/>
          </a:xfrm>
        </p:grpSpPr>
        <p:sp>
          <p:nvSpPr>
            <p:cNvPr id="11" name="Freeform 5"/>
            <p:cNvSpPr/>
            <p:nvPr/>
          </p:nvSpPr>
          <p:spPr bwMode="auto">
            <a:xfrm>
              <a:off x="-3450590" y="180975"/>
              <a:ext cx="1928813" cy="1898650"/>
            </a:xfrm>
            <a:custGeom>
              <a:avLst/>
              <a:gdLst>
                <a:gd name="T0" fmla="*/ 252 w 512"/>
                <a:gd name="T1" fmla="*/ 0 h 504"/>
                <a:gd name="T2" fmla="*/ 74 w 512"/>
                <a:gd name="T3" fmla="*/ 74 h 504"/>
                <a:gd name="T4" fmla="*/ 0 w 512"/>
                <a:gd name="T5" fmla="*/ 252 h 504"/>
                <a:gd name="T6" fmla="*/ 74 w 512"/>
                <a:gd name="T7" fmla="*/ 430 h 504"/>
                <a:gd name="T8" fmla="*/ 252 w 512"/>
                <a:gd name="T9" fmla="*/ 504 h 504"/>
                <a:gd name="T10" fmla="*/ 430 w 512"/>
                <a:gd name="T11" fmla="*/ 430 h 504"/>
                <a:gd name="T12" fmla="*/ 504 w 512"/>
                <a:gd name="T13" fmla="*/ 252 h 504"/>
                <a:gd name="T14" fmla="*/ 512 w 512"/>
                <a:gd name="T15" fmla="*/ 252 h 504"/>
                <a:gd name="T16" fmla="*/ 512 w 512"/>
                <a:gd name="T17" fmla="*/ 252 h 504"/>
                <a:gd name="T18" fmla="*/ 504 w 512"/>
                <a:gd name="T19" fmla="*/ 252 h 504"/>
                <a:gd name="T20" fmla="*/ 430 w 512"/>
                <a:gd name="T21" fmla="*/ 74 h 504"/>
                <a:gd name="T22" fmla="*/ 252 w 512"/>
                <a:gd name="T23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12" h="504">
                  <a:moveTo>
                    <a:pt x="252" y="0"/>
                  </a:moveTo>
                  <a:cubicBezTo>
                    <a:pt x="182" y="0"/>
                    <a:pt x="119" y="28"/>
                    <a:pt x="74" y="74"/>
                  </a:cubicBezTo>
                  <a:cubicBezTo>
                    <a:pt x="28" y="119"/>
                    <a:pt x="0" y="182"/>
                    <a:pt x="0" y="252"/>
                  </a:cubicBezTo>
                  <a:cubicBezTo>
                    <a:pt x="0" y="321"/>
                    <a:pt x="28" y="384"/>
                    <a:pt x="74" y="430"/>
                  </a:cubicBezTo>
                  <a:cubicBezTo>
                    <a:pt x="119" y="476"/>
                    <a:pt x="182" y="504"/>
                    <a:pt x="252" y="504"/>
                  </a:cubicBezTo>
                  <a:cubicBezTo>
                    <a:pt x="321" y="504"/>
                    <a:pt x="384" y="476"/>
                    <a:pt x="430" y="430"/>
                  </a:cubicBezTo>
                  <a:cubicBezTo>
                    <a:pt x="476" y="384"/>
                    <a:pt x="504" y="321"/>
                    <a:pt x="504" y="252"/>
                  </a:cubicBezTo>
                  <a:cubicBezTo>
                    <a:pt x="512" y="252"/>
                    <a:pt x="512" y="252"/>
                    <a:pt x="512" y="252"/>
                  </a:cubicBezTo>
                  <a:cubicBezTo>
                    <a:pt x="512" y="252"/>
                    <a:pt x="512" y="252"/>
                    <a:pt x="512" y="252"/>
                  </a:cubicBezTo>
                  <a:cubicBezTo>
                    <a:pt x="504" y="252"/>
                    <a:pt x="504" y="252"/>
                    <a:pt x="504" y="252"/>
                  </a:cubicBezTo>
                  <a:cubicBezTo>
                    <a:pt x="504" y="182"/>
                    <a:pt x="476" y="119"/>
                    <a:pt x="430" y="74"/>
                  </a:cubicBezTo>
                  <a:cubicBezTo>
                    <a:pt x="384" y="28"/>
                    <a:pt x="321" y="0"/>
                    <a:pt x="25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-3510915" y="120650"/>
              <a:ext cx="2019300" cy="2019300"/>
            </a:xfrm>
            <a:custGeom>
              <a:avLst/>
              <a:gdLst>
                <a:gd name="T0" fmla="*/ 536 w 536"/>
                <a:gd name="T1" fmla="*/ 268 h 536"/>
                <a:gd name="T2" fmla="*/ 536 w 536"/>
                <a:gd name="T3" fmla="*/ 268 h 536"/>
                <a:gd name="T4" fmla="*/ 536 w 536"/>
                <a:gd name="T5" fmla="*/ 268 h 536"/>
                <a:gd name="T6" fmla="*/ 268 w 536"/>
                <a:gd name="T7" fmla="*/ 0 h 536"/>
                <a:gd name="T8" fmla="*/ 0 w 536"/>
                <a:gd name="T9" fmla="*/ 268 h 536"/>
                <a:gd name="T10" fmla="*/ 268 w 536"/>
                <a:gd name="T11" fmla="*/ 536 h 536"/>
                <a:gd name="T12" fmla="*/ 536 w 536"/>
                <a:gd name="T13" fmla="*/ 268 h 536"/>
                <a:gd name="T14" fmla="*/ 528 w 536"/>
                <a:gd name="T15" fmla="*/ 268 h 536"/>
                <a:gd name="T16" fmla="*/ 520 w 536"/>
                <a:gd name="T17" fmla="*/ 268 h 536"/>
                <a:gd name="T18" fmla="*/ 446 w 536"/>
                <a:gd name="T19" fmla="*/ 446 h 536"/>
                <a:gd name="T20" fmla="*/ 268 w 536"/>
                <a:gd name="T21" fmla="*/ 520 h 536"/>
                <a:gd name="T22" fmla="*/ 90 w 536"/>
                <a:gd name="T23" fmla="*/ 446 h 536"/>
                <a:gd name="T24" fmla="*/ 16 w 536"/>
                <a:gd name="T25" fmla="*/ 268 h 536"/>
                <a:gd name="T26" fmla="*/ 90 w 536"/>
                <a:gd name="T27" fmla="*/ 90 h 536"/>
                <a:gd name="T28" fmla="*/ 268 w 536"/>
                <a:gd name="T29" fmla="*/ 16 h 536"/>
                <a:gd name="T30" fmla="*/ 446 w 536"/>
                <a:gd name="T31" fmla="*/ 90 h 536"/>
                <a:gd name="T32" fmla="*/ 520 w 536"/>
                <a:gd name="T33" fmla="*/ 268 h 536"/>
                <a:gd name="T34" fmla="*/ 528 w 536"/>
                <a:gd name="T35" fmla="*/ 268 h 536"/>
                <a:gd name="T36" fmla="*/ 536 w 536"/>
                <a:gd name="T37" fmla="*/ 268 h 536"/>
                <a:gd name="T38" fmla="*/ 536 w 536"/>
                <a:gd name="T39" fmla="*/ 268 h 536"/>
                <a:gd name="T40" fmla="*/ 268 w 536"/>
                <a:gd name="T41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36" h="536">
                  <a:moveTo>
                    <a:pt x="536" y="268"/>
                  </a:moveTo>
                  <a:cubicBezTo>
                    <a:pt x="536" y="268"/>
                    <a:pt x="536" y="268"/>
                    <a:pt x="536" y="268"/>
                  </a:cubicBezTo>
                  <a:cubicBezTo>
                    <a:pt x="536" y="268"/>
                    <a:pt x="536" y="268"/>
                    <a:pt x="536" y="268"/>
                  </a:cubicBezTo>
                  <a:moveTo>
                    <a:pt x="268" y="0"/>
                  </a:moveTo>
                  <a:cubicBezTo>
                    <a:pt x="120" y="0"/>
                    <a:pt x="0" y="120"/>
                    <a:pt x="0" y="268"/>
                  </a:cubicBezTo>
                  <a:cubicBezTo>
                    <a:pt x="0" y="416"/>
                    <a:pt x="120" y="536"/>
                    <a:pt x="268" y="536"/>
                  </a:cubicBezTo>
                  <a:cubicBezTo>
                    <a:pt x="416" y="536"/>
                    <a:pt x="536" y="416"/>
                    <a:pt x="536" y="268"/>
                  </a:cubicBezTo>
                  <a:cubicBezTo>
                    <a:pt x="528" y="268"/>
                    <a:pt x="528" y="268"/>
                    <a:pt x="528" y="268"/>
                  </a:cubicBezTo>
                  <a:cubicBezTo>
                    <a:pt x="520" y="268"/>
                    <a:pt x="520" y="268"/>
                    <a:pt x="520" y="268"/>
                  </a:cubicBezTo>
                  <a:cubicBezTo>
                    <a:pt x="520" y="337"/>
                    <a:pt x="492" y="400"/>
                    <a:pt x="446" y="446"/>
                  </a:cubicBezTo>
                  <a:cubicBezTo>
                    <a:pt x="400" y="492"/>
                    <a:pt x="337" y="520"/>
                    <a:pt x="268" y="520"/>
                  </a:cubicBezTo>
                  <a:cubicBezTo>
                    <a:pt x="198" y="520"/>
                    <a:pt x="135" y="492"/>
                    <a:pt x="90" y="446"/>
                  </a:cubicBezTo>
                  <a:cubicBezTo>
                    <a:pt x="44" y="400"/>
                    <a:pt x="16" y="337"/>
                    <a:pt x="16" y="268"/>
                  </a:cubicBezTo>
                  <a:cubicBezTo>
                    <a:pt x="16" y="198"/>
                    <a:pt x="44" y="135"/>
                    <a:pt x="90" y="90"/>
                  </a:cubicBezTo>
                  <a:cubicBezTo>
                    <a:pt x="135" y="44"/>
                    <a:pt x="198" y="16"/>
                    <a:pt x="268" y="16"/>
                  </a:cubicBezTo>
                  <a:cubicBezTo>
                    <a:pt x="337" y="16"/>
                    <a:pt x="400" y="44"/>
                    <a:pt x="446" y="90"/>
                  </a:cubicBezTo>
                  <a:cubicBezTo>
                    <a:pt x="492" y="135"/>
                    <a:pt x="520" y="198"/>
                    <a:pt x="520" y="268"/>
                  </a:cubicBezTo>
                  <a:cubicBezTo>
                    <a:pt x="528" y="268"/>
                    <a:pt x="528" y="268"/>
                    <a:pt x="528" y="268"/>
                  </a:cubicBezTo>
                  <a:cubicBezTo>
                    <a:pt x="536" y="268"/>
                    <a:pt x="536" y="268"/>
                    <a:pt x="536" y="268"/>
                  </a:cubicBezTo>
                  <a:cubicBezTo>
                    <a:pt x="536" y="268"/>
                    <a:pt x="536" y="268"/>
                    <a:pt x="536" y="268"/>
                  </a:cubicBezTo>
                  <a:cubicBezTo>
                    <a:pt x="536" y="120"/>
                    <a:pt x="416" y="0"/>
                    <a:pt x="268" y="0"/>
                  </a:cubicBezTo>
                </a:path>
              </a:pathLst>
            </a:custGeom>
            <a:solidFill>
              <a:srgbClr val="A3DC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-3628390" y="3175"/>
              <a:ext cx="2249488" cy="2249488"/>
            </a:xfrm>
            <a:custGeom>
              <a:avLst/>
              <a:gdLst>
                <a:gd name="T0" fmla="*/ 597 w 597"/>
                <a:gd name="T1" fmla="*/ 299 h 597"/>
                <a:gd name="T2" fmla="*/ 597 w 597"/>
                <a:gd name="T3" fmla="*/ 299 h 597"/>
                <a:gd name="T4" fmla="*/ 597 w 597"/>
                <a:gd name="T5" fmla="*/ 299 h 597"/>
                <a:gd name="T6" fmla="*/ 299 w 597"/>
                <a:gd name="T7" fmla="*/ 0 h 597"/>
                <a:gd name="T8" fmla="*/ 0 w 597"/>
                <a:gd name="T9" fmla="*/ 299 h 597"/>
                <a:gd name="T10" fmla="*/ 299 w 597"/>
                <a:gd name="T11" fmla="*/ 597 h 597"/>
                <a:gd name="T12" fmla="*/ 597 w 597"/>
                <a:gd name="T13" fmla="*/ 299 h 597"/>
                <a:gd name="T14" fmla="*/ 593 w 597"/>
                <a:gd name="T15" fmla="*/ 299 h 597"/>
                <a:gd name="T16" fmla="*/ 589 w 597"/>
                <a:gd name="T17" fmla="*/ 299 h 597"/>
                <a:gd name="T18" fmla="*/ 504 w 597"/>
                <a:gd name="T19" fmla="*/ 504 h 597"/>
                <a:gd name="T20" fmla="*/ 299 w 597"/>
                <a:gd name="T21" fmla="*/ 589 h 597"/>
                <a:gd name="T22" fmla="*/ 93 w 597"/>
                <a:gd name="T23" fmla="*/ 504 h 597"/>
                <a:gd name="T24" fmla="*/ 8 w 597"/>
                <a:gd name="T25" fmla="*/ 299 h 597"/>
                <a:gd name="T26" fmla="*/ 93 w 597"/>
                <a:gd name="T27" fmla="*/ 93 h 597"/>
                <a:gd name="T28" fmla="*/ 299 w 597"/>
                <a:gd name="T29" fmla="*/ 8 h 597"/>
                <a:gd name="T30" fmla="*/ 504 w 597"/>
                <a:gd name="T31" fmla="*/ 93 h 597"/>
                <a:gd name="T32" fmla="*/ 589 w 597"/>
                <a:gd name="T33" fmla="*/ 299 h 597"/>
                <a:gd name="T34" fmla="*/ 593 w 597"/>
                <a:gd name="T35" fmla="*/ 299 h 597"/>
                <a:gd name="T36" fmla="*/ 597 w 597"/>
                <a:gd name="T37" fmla="*/ 299 h 597"/>
                <a:gd name="T38" fmla="*/ 597 w 597"/>
                <a:gd name="T39" fmla="*/ 299 h 597"/>
                <a:gd name="T40" fmla="*/ 299 w 597"/>
                <a:gd name="T41" fmla="*/ 0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97" h="597">
                  <a:moveTo>
                    <a:pt x="597" y="299"/>
                  </a:moveTo>
                  <a:cubicBezTo>
                    <a:pt x="597" y="299"/>
                    <a:pt x="597" y="299"/>
                    <a:pt x="597" y="299"/>
                  </a:cubicBezTo>
                  <a:cubicBezTo>
                    <a:pt x="597" y="299"/>
                    <a:pt x="597" y="299"/>
                    <a:pt x="597" y="299"/>
                  </a:cubicBezTo>
                  <a:moveTo>
                    <a:pt x="299" y="0"/>
                  </a:moveTo>
                  <a:cubicBezTo>
                    <a:pt x="134" y="0"/>
                    <a:pt x="0" y="134"/>
                    <a:pt x="0" y="299"/>
                  </a:cubicBezTo>
                  <a:cubicBezTo>
                    <a:pt x="0" y="464"/>
                    <a:pt x="134" y="597"/>
                    <a:pt x="299" y="597"/>
                  </a:cubicBezTo>
                  <a:cubicBezTo>
                    <a:pt x="464" y="597"/>
                    <a:pt x="597" y="464"/>
                    <a:pt x="597" y="299"/>
                  </a:cubicBezTo>
                  <a:cubicBezTo>
                    <a:pt x="593" y="299"/>
                    <a:pt x="593" y="299"/>
                    <a:pt x="593" y="299"/>
                  </a:cubicBezTo>
                  <a:cubicBezTo>
                    <a:pt x="589" y="299"/>
                    <a:pt x="589" y="299"/>
                    <a:pt x="589" y="299"/>
                  </a:cubicBezTo>
                  <a:cubicBezTo>
                    <a:pt x="589" y="379"/>
                    <a:pt x="557" y="452"/>
                    <a:pt x="504" y="504"/>
                  </a:cubicBezTo>
                  <a:cubicBezTo>
                    <a:pt x="452" y="557"/>
                    <a:pt x="379" y="589"/>
                    <a:pt x="299" y="589"/>
                  </a:cubicBezTo>
                  <a:cubicBezTo>
                    <a:pt x="219" y="589"/>
                    <a:pt x="146" y="557"/>
                    <a:pt x="93" y="504"/>
                  </a:cubicBezTo>
                  <a:cubicBezTo>
                    <a:pt x="41" y="452"/>
                    <a:pt x="8" y="379"/>
                    <a:pt x="8" y="299"/>
                  </a:cubicBezTo>
                  <a:cubicBezTo>
                    <a:pt x="8" y="219"/>
                    <a:pt x="41" y="146"/>
                    <a:pt x="93" y="93"/>
                  </a:cubicBezTo>
                  <a:cubicBezTo>
                    <a:pt x="146" y="41"/>
                    <a:pt x="219" y="8"/>
                    <a:pt x="299" y="8"/>
                  </a:cubicBezTo>
                  <a:cubicBezTo>
                    <a:pt x="379" y="8"/>
                    <a:pt x="452" y="41"/>
                    <a:pt x="504" y="93"/>
                  </a:cubicBezTo>
                  <a:cubicBezTo>
                    <a:pt x="557" y="146"/>
                    <a:pt x="589" y="219"/>
                    <a:pt x="589" y="299"/>
                  </a:cubicBezTo>
                  <a:cubicBezTo>
                    <a:pt x="593" y="299"/>
                    <a:pt x="593" y="299"/>
                    <a:pt x="593" y="299"/>
                  </a:cubicBezTo>
                  <a:cubicBezTo>
                    <a:pt x="597" y="299"/>
                    <a:pt x="597" y="299"/>
                    <a:pt x="597" y="299"/>
                  </a:cubicBezTo>
                  <a:cubicBezTo>
                    <a:pt x="597" y="299"/>
                    <a:pt x="597" y="299"/>
                    <a:pt x="597" y="299"/>
                  </a:cubicBezTo>
                  <a:cubicBezTo>
                    <a:pt x="597" y="134"/>
                    <a:pt x="464" y="0"/>
                    <a:pt x="29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10" name="图片 9" descr="22"/>
          <p:cNvPicPr>
            <a:picLocks noChangeAspect="1"/>
          </p:cNvPicPr>
          <p:nvPr/>
        </p:nvPicPr>
        <p:blipFill>
          <a:blip r:embed="rId3"/>
          <a:srcRect l="20711" t="37551" r="22228" b="21427"/>
          <a:stretch>
            <a:fillRect/>
          </a:stretch>
        </p:blipFill>
        <p:spPr>
          <a:xfrm>
            <a:off x="5501640" y="2154555"/>
            <a:ext cx="1196975" cy="1203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182880" y="-150812"/>
            <a:ext cx="12550140" cy="7223759"/>
          </a:xfrm>
          <a:prstGeom prst="rect">
            <a:avLst/>
          </a:prstGeom>
        </p:spPr>
      </p:pic>
      <p:grpSp>
        <p:nvGrpSpPr>
          <p:cNvPr id="68" name="组合 67"/>
          <p:cNvGrpSpPr/>
          <p:nvPr>
            <p:custDataLst>
              <p:tags r:id="rId2"/>
            </p:custDataLst>
          </p:nvPr>
        </p:nvGrpSpPr>
        <p:grpSpPr>
          <a:xfrm>
            <a:off x="5173313" y="2226295"/>
            <a:ext cx="4101234" cy="2469544"/>
            <a:chOff x="4341154" y="2714765"/>
            <a:chExt cx="4101234" cy="2469544"/>
          </a:xfrm>
        </p:grpSpPr>
        <p:grpSp>
          <p:nvGrpSpPr>
            <p:cNvPr id="43" name="组合 42"/>
            <p:cNvGrpSpPr/>
            <p:nvPr/>
          </p:nvGrpSpPr>
          <p:grpSpPr>
            <a:xfrm>
              <a:off x="4341154" y="2714765"/>
              <a:ext cx="4101234" cy="461665"/>
              <a:chOff x="4313606" y="2651265"/>
              <a:chExt cx="4101234" cy="461665"/>
            </a:xfrm>
          </p:grpSpPr>
          <p:sp>
            <p:nvSpPr>
              <p:cNvPr id="44" name="Freeform 6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4313606" y="2705554"/>
                <a:ext cx="360220" cy="353087"/>
              </a:xfrm>
              <a:custGeom>
                <a:avLst/>
                <a:gdLst>
                  <a:gd name="T0" fmla="*/ 425 w 444"/>
                  <a:gd name="T1" fmla="*/ 17 h 435"/>
                  <a:gd name="T2" fmla="*/ 425 w 444"/>
                  <a:gd name="T3" fmla="*/ 17 h 435"/>
                  <a:gd name="T4" fmla="*/ 345 w 444"/>
                  <a:gd name="T5" fmla="*/ 35 h 435"/>
                  <a:gd name="T6" fmla="*/ 0 w 444"/>
                  <a:gd name="T7" fmla="*/ 222 h 435"/>
                  <a:gd name="T8" fmla="*/ 195 w 444"/>
                  <a:gd name="T9" fmla="*/ 248 h 435"/>
                  <a:gd name="T10" fmla="*/ 221 w 444"/>
                  <a:gd name="T11" fmla="*/ 434 h 435"/>
                  <a:gd name="T12" fmla="*/ 399 w 444"/>
                  <a:gd name="T13" fmla="*/ 89 h 435"/>
                  <a:gd name="T14" fmla="*/ 425 w 444"/>
                  <a:gd name="T15" fmla="*/ 17 h 435"/>
                  <a:gd name="T16" fmla="*/ 381 w 444"/>
                  <a:gd name="T17" fmla="*/ 62 h 435"/>
                  <a:gd name="T18" fmla="*/ 381 w 444"/>
                  <a:gd name="T19" fmla="*/ 62 h 435"/>
                  <a:gd name="T20" fmla="*/ 239 w 444"/>
                  <a:gd name="T21" fmla="*/ 319 h 435"/>
                  <a:gd name="T22" fmla="*/ 230 w 444"/>
                  <a:gd name="T23" fmla="*/ 204 h 435"/>
                  <a:gd name="T24" fmla="*/ 381 w 444"/>
                  <a:gd name="T25" fmla="*/ 62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35">
                    <a:moveTo>
                      <a:pt x="425" y="17"/>
                    </a:moveTo>
                    <a:lnTo>
                      <a:pt x="425" y="17"/>
                    </a:lnTo>
                    <a:cubicBezTo>
                      <a:pt x="408" y="0"/>
                      <a:pt x="399" y="17"/>
                      <a:pt x="345" y="35"/>
                    </a:cubicBezTo>
                    <a:cubicBezTo>
                      <a:pt x="221" y="97"/>
                      <a:pt x="0" y="222"/>
                      <a:pt x="0" y="222"/>
                    </a:cubicBezTo>
                    <a:cubicBezTo>
                      <a:pt x="195" y="248"/>
                      <a:pt x="195" y="248"/>
                      <a:pt x="195" y="248"/>
                    </a:cubicBezTo>
                    <a:cubicBezTo>
                      <a:pt x="221" y="434"/>
                      <a:pt x="221" y="434"/>
                      <a:pt x="221" y="434"/>
                    </a:cubicBezTo>
                    <a:cubicBezTo>
                      <a:pt x="221" y="434"/>
                      <a:pt x="345" y="222"/>
                      <a:pt x="399" y="89"/>
                    </a:cubicBezTo>
                    <a:cubicBezTo>
                      <a:pt x="425" y="44"/>
                      <a:pt x="443" y="26"/>
                      <a:pt x="425" y="17"/>
                    </a:cubicBezTo>
                    <a:close/>
                    <a:moveTo>
                      <a:pt x="381" y="62"/>
                    </a:moveTo>
                    <a:lnTo>
                      <a:pt x="381" y="62"/>
                    </a:lnTo>
                    <a:cubicBezTo>
                      <a:pt x="239" y="319"/>
                      <a:pt x="239" y="319"/>
                      <a:pt x="239" y="319"/>
                    </a:cubicBezTo>
                    <a:cubicBezTo>
                      <a:pt x="230" y="204"/>
                      <a:pt x="230" y="204"/>
                      <a:pt x="230" y="204"/>
                    </a:cubicBezTo>
                    <a:lnTo>
                      <a:pt x="381" y="62"/>
                    </a:lnTo>
                    <a:close/>
                  </a:path>
                </a:pathLst>
              </a:custGeom>
              <a:solidFill>
                <a:srgbClr val="4AADB9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5346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sz="2105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4833257" y="2651265"/>
                <a:ext cx="3581583" cy="461665"/>
                <a:chOff x="4833257" y="2845332"/>
                <a:chExt cx="3581583" cy="461665"/>
              </a:xfrm>
            </p:grpSpPr>
            <p:sp>
              <p:nvSpPr>
                <p:cNvPr id="46" name="文本框 45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4833257" y="2845332"/>
                  <a:ext cx="986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64B5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01  |</a:t>
                  </a:r>
                  <a:endParaRPr lang="zh-CN" altLang="en-US" sz="2400" b="1" dirty="0">
                    <a:solidFill>
                      <a:srgbClr val="64B5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" name="文本框 46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5704211" y="2845332"/>
                  <a:ext cx="27106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spc="300" dirty="0">
                      <a:solidFill>
                        <a:srgbClr val="61B5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研究背景及意义</a:t>
                  </a:r>
                  <a:endParaRPr lang="zh-CN" altLang="en-US" sz="2400" b="1" spc="300" dirty="0">
                    <a:solidFill>
                      <a:srgbClr val="61B5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48" name="组合 47"/>
            <p:cNvGrpSpPr/>
            <p:nvPr/>
          </p:nvGrpSpPr>
          <p:grpSpPr>
            <a:xfrm>
              <a:off x="4341154" y="3384058"/>
              <a:ext cx="3509692" cy="461665"/>
              <a:chOff x="4313606" y="2651265"/>
              <a:chExt cx="3509692" cy="461665"/>
            </a:xfrm>
          </p:grpSpPr>
          <p:sp>
            <p:nvSpPr>
              <p:cNvPr id="49" name="Freeform 6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4313606" y="2705554"/>
                <a:ext cx="360220" cy="353087"/>
              </a:xfrm>
              <a:custGeom>
                <a:avLst/>
                <a:gdLst>
                  <a:gd name="T0" fmla="*/ 425 w 444"/>
                  <a:gd name="T1" fmla="*/ 17 h 435"/>
                  <a:gd name="T2" fmla="*/ 425 w 444"/>
                  <a:gd name="T3" fmla="*/ 17 h 435"/>
                  <a:gd name="T4" fmla="*/ 345 w 444"/>
                  <a:gd name="T5" fmla="*/ 35 h 435"/>
                  <a:gd name="T6" fmla="*/ 0 w 444"/>
                  <a:gd name="T7" fmla="*/ 222 h 435"/>
                  <a:gd name="T8" fmla="*/ 195 w 444"/>
                  <a:gd name="T9" fmla="*/ 248 h 435"/>
                  <a:gd name="T10" fmla="*/ 221 w 444"/>
                  <a:gd name="T11" fmla="*/ 434 h 435"/>
                  <a:gd name="T12" fmla="*/ 399 w 444"/>
                  <a:gd name="T13" fmla="*/ 89 h 435"/>
                  <a:gd name="T14" fmla="*/ 425 w 444"/>
                  <a:gd name="T15" fmla="*/ 17 h 435"/>
                  <a:gd name="T16" fmla="*/ 381 w 444"/>
                  <a:gd name="T17" fmla="*/ 62 h 435"/>
                  <a:gd name="T18" fmla="*/ 381 w 444"/>
                  <a:gd name="T19" fmla="*/ 62 h 435"/>
                  <a:gd name="T20" fmla="*/ 239 w 444"/>
                  <a:gd name="T21" fmla="*/ 319 h 435"/>
                  <a:gd name="T22" fmla="*/ 230 w 444"/>
                  <a:gd name="T23" fmla="*/ 204 h 435"/>
                  <a:gd name="T24" fmla="*/ 381 w 444"/>
                  <a:gd name="T25" fmla="*/ 62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35">
                    <a:moveTo>
                      <a:pt x="425" y="17"/>
                    </a:moveTo>
                    <a:lnTo>
                      <a:pt x="425" y="17"/>
                    </a:lnTo>
                    <a:cubicBezTo>
                      <a:pt x="408" y="0"/>
                      <a:pt x="399" y="17"/>
                      <a:pt x="345" y="35"/>
                    </a:cubicBezTo>
                    <a:cubicBezTo>
                      <a:pt x="221" y="97"/>
                      <a:pt x="0" y="222"/>
                      <a:pt x="0" y="222"/>
                    </a:cubicBezTo>
                    <a:cubicBezTo>
                      <a:pt x="195" y="248"/>
                      <a:pt x="195" y="248"/>
                      <a:pt x="195" y="248"/>
                    </a:cubicBezTo>
                    <a:cubicBezTo>
                      <a:pt x="221" y="434"/>
                      <a:pt x="221" y="434"/>
                      <a:pt x="221" y="434"/>
                    </a:cubicBezTo>
                    <a:cubicBezTo>
                      <a:pt x="221" y="434"/>
                      <a:pt x="345" y="222"/>
                      <a:pt x="399" y="89"/>
                    </a:cubicBezTo>
                    <a:cubicBezTo>
                      <a:pt x="425" y="44"/>
                      <a:pt x="443" y="26"/>
                      <a:pt x="425" y="17"/>
                    </a:cubicBezTo>
                    <a:close/>
                    <a:moveTo>
                      <a:pt x="381" y="62"/>
                    </a:moveTo>
                    <a:lnTo>
                      <a:pt x="381" y="62"/>
                    </a:lnTo>
                    <a:cubicBezTo>
                      <a:pt x="239" y="319"/>
                      <a:pt x="239" y="319"/>
                      <a:pt x="239" y="319"/>
                    </a:cubicBezTo>
                    <a:cubicBezTo>
                      <a:pt x="230" y="204"/>
                      <a:pt x="230" y="204"/>
                      <a:pt x="230" y="204"/>
                    </a:cubicBezTo>
                    <a:lnTo>
                      <a:pt x="381" y="62"/>
                    </a:lnTo>
                    <a:close/>
                  </a:path>
                </a:pathLst>
              </a:custGeom>
              <a:solidFill>
                <a:srgbClr val="38A2AF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5346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sz="2105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  <p:grpSp>
            <p:nvGrpSpPr>
              <p:cNvPr id="50" name="组合 49"/>
              <p:cNvGrpSpPr/>
              <p:nvPr/>
            </p:nvGrpSpPr>
            <p:grpSpPr>
              <a:xfrm>
                <a:off x="4833257" y="2651265"/>
                <a:ext cx="2990041" cy="461665"/>
                <a:chOff x="4833257" y="2845332"/>
                <a:chExt cx="2990041" cy="461665"/>
              </a:xfrm>
            </p:grpSpPr>
            <p:sp>
              <p:nvSpPr>
                <p:cNvPr id="51" name="文本框 50"/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4833257" y="2845332"/>
                  <a:ext cx="986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64B5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02  |</a:t>
                  </a:r>
                  <a:endParaRPr lang="zh-CN" altLang="en-US" sz="2400" b="1" dirty="0">
                    <a:solidFill>
                      <a:srgbClr val="64B5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" name="文本框 51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5704212" y="2845332"/>
                  <a:ext cx="211908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spc="300" dirty="0">
                      <a:solidFill>
                        <a:srgbClr val="61B5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系统设计</a:t>
                  </a:r>
                  <a:endParaRPr lang="zh-CN" altLang="en-US" sz="2400" b="1" spc="300" dirty="0">
                    <a:solidFill>
                      <a:srgbClr val="61B5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53" name="组合 52"/>
            <p:cNvGrpSpPr/>
            <p:nvPr/>
          </p:nvGrpSpPr>
          <p:grpSpPr>
            <a:xfrm>
              <a:off x="4341154" y="4053351"/>
              <a:ext cx="4101234" cy="461665"/>
              <a:chOff x="4313606" y="2651265"/>
              <a:chExt cx="4101234" cy="461665"/>
            </a:xfrm>
          </p:grpSpPr>
          <p:sp>
            <p:nvSpPr>
              <p:cNvPr id="54" name="Freeform 6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313606" y="2705554"/>
                <a:ext cx="360220" cy="353087"/>
              </a:xfrm>
              <a:custGeom>
                <a:avLst/>
                <a:gdLst>
                  <a:gd name="T0" fmla="*/ 425 w 444"/>
                  <a:gd name="T1" fmla="*/ 17 h 435"/>
                  <a:gd name="T2" fmla="*/ 425 w 444"/>
                  <a:gd name="T3" fmla="*/ 17 h 435"/>
                  <a:gd name="T4" fmla="*/ 345 w 444"/>
                  <a:gd name="T5" fmla="*/ 35 h 435"/>
                  <a:gd name="T6" fmla="*/ 0 w 444"/>
                  <a:gd name="T7" fmla="*/ 222 h 435"/>
                  <a:gd name="T8" fmla="*/ 195 w 444"/>
                  <a:gd name="T9" fmla="*/ 248 h 435"/>
                  <a:gd name="T10" fmla="*/ 221 w 444"/>
                  <a:gd name="T11" fmla="*/ 434 h 435"/>
                  <a:gd name="T12" fmla="*/ 399 w 444"/>
                  <a:gd name="T13" fmla="*/ 89 h 435"/>
                  <a:gd name="T14" fmla="*/ 425 w 444"/>
                  <a:gd name="T15" fmla="*/ 17 h 435"/>
                  <a:gd name="T16" fmla="*/ 381 w 444"/>
                  <a:gd name="T17" fmla="*/ 62 h 435"/>
                  <a:gd name="T18" fmla="*/ 381 w 444"/>
                  <a:gd name="T19" fmla="*/ 62 h 435"/>
                  <a:gd name="T20" fmla="*/ 239 w 444"/>
                  <a:gd name="T21" fmla="*/ 319 h 435"/>
                  <a:gd name="T22" fmla="*/ 230 w 444"/>
                  <a:gd name="T23" fmla="*/ 204 h 435"/>
                  <a:gd name="T24" fmla="*/ 381 w 444"/>
                  <a:gd name="T25" fmla="*/ 62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35">
                    <a:moveTo>
                      <a:pt x="425" y="17"/>
                    </a:moveTo>
                    <a:lnTo>
                      <a:pt x="425" y="17"/>
                    </a:lnTo>
                    <a:cubicBezTo>
                      <a:pt x="408" y="0"/>
                      <a:pt x="399" y="17"/>
                      <a:pt x="345" y="35"/>
                    </a:cubicBezTo>
                    <a:cubicBezTo>
                      <a:pt x="221" y="97"/>
                      <a:pt x="0" y="222"/>
                      <a:pt x="0" y="222"/>
                    </a:cubicBezTo>
                    <a:cubicBezTo>
                      <a:pt x="195" y="248"/>
                      <a:pt x="195" y="248"/>
                      <a:pt x="195" y="248"/>
                    </a:cubicBezTo>
                    <a:cubicBezTo>
                      <a:pt x="221" y="434"/>
                      <a:pt x="221" y="434"/>
                      <a:pt x="221" y="434"/>
                    </a:cubicBezTo>
                    <a:cubicBezTo>
                      <a:pt x="221" y="434"/>
                      <a:pt x="345" y="222"/>
                      <a:pt x="399" y="89"/>
                    </a:cubicBezTo>
                    <a:cubicBezTo>
                      <a:pt x="425" y="44"/>
                      <a:pt x="443" y="26"/>
                      <a:pt x="425" y="17"/>
                    </a:cubicBezTo>
                    <a:close/>
                    <a:moveTo>
                      <a:pt x="381" y="62"/>
                    </a:moveTo>
                    <a:lnTo>
                      <a:pt x="381" y="62"/>
                    </a:lnTo>
                    <a:cubicBezTo>
                      <a:pt x="239" y="319"/>
                      <a:pt x="239" y="319"/>
                      <a:pt x="239" y="319"/>
                    </a:cubicBezTo>
                    <a:cubicBezTo>
                      <a:pt x="230" y="204"/>
                      <a:pt x="230" y="204"/>
                      <a:pt x="230" y="204"/>
                    </a:cubicBezTo>
                    <a:lnTo>
                      <a:pt x="381" y="62"/>
                    </a:lnTo>
                    <a:close/>
                  </a:path>
                </a:pathLst>
              </a:custGeom>
              <a:solidFill>
                <a:srgbClr val="3AA7B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5346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sz="2105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4833257" y="2651265"/>
                <a:ext cx="3581583" cy="461665"/>
                <a:chOff x="4833257" y="2845332"/>
                <a:chExt cx="3581583" cy="461665"/>
              </a:xfrm>
            </p:grpSpPr>
            <p:sp>
              <p:nvSpPr>
                <p:cNvPr id="56" name="文本框 55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4833257" y="2845332"/>
                  <a:ext cx="986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64B5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02  |</a:t>
                  </a:r>
                  <a:endParaRPr lang="zh-CN" altLang="en-US" sz="2400" b="1" dirty="0">
                    <a:solidFill>
                      <a:srgbClr val="64B5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7" name="文本框 56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5704212" y="2845332"/>
                  <a:ext cx="271062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spc="300" dirty="0">
                      <a:solidFill>
                        <a:srgbClr val="61B5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目前进度</a:t>
                  </a:r>
                  <a:endParaRPr lang="zh-CN" altLang="en-US" sz="2400" b="1" spc="300" dirty="0">
                    <a:solidFill>
                      <a:srgbClr val="61B5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58" name="组合 57"/>
            <p:cNvGrpSpPr/>
            <p:nvPr/>
          </p:nvGrpSpPr>
          <p:grpSpPr>
            <a:xfrm>
              <a:off x="4341154" y="4722644"/>
              <a:ext cx="3509692" cy="461665"/>
              <a:chOff x="4313606" y="2651265"/>
              <a:chExt cx="3509692" cy="461665"/>
            </a:xfrm>
          </p:grpSpPr>
          <p:sp>
            <p:nvSpPr>
              <p:cNvPr id="59" name="Freeform 6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4313606" y="2705554"/>
                <a:ext cx="360220" cy="353087"/>
              </a:xfrm>
              <a:custGeom>
                <a:avLst/>
                <a:gdLst>
                  <a:gd name="T0" fmla="*/ 425 w 444"/>
                  <a:gd name="T1" fmla="*/ 17 h 435"/>
                  <a:gd name="T2" fmla="*/ 425 w 444"/>
                  <a:gd name="T3" fmla="*/ 17 h 435"/>
                  <a:gd name="T4" fmla="*/ 345 w 444"/>
                  <a:gd name="T5" fmla="*/ 35 h 435"/>
                  <a:gd name="T6" fmla="*/ 0 w 444"/>
                  <a:gd name="T7" fmla="*/ 222 h 435"/>
                  <a:gd name="T8" fmla="*/ 195 w 444"/>
                  <a:gd name="T9" fmla="*/ 248 h 435"/>
                  <a:gd name="T10" fmla="*/ 221 w 444"/>
                  <a:gd name="T11" fmla="*/ 434 h 435"/>
                  <a:gd name="T12" fmla="*/ 399 w 444"/>
                  <a:gd name="T13" fmla="*/ 89 h 435"/>
                  <a:gd name="T14" fmla="*/ 425 w 444"/>
                  <a:gd name="T15" fmla="*/ 17 h 435"/>
                  <a:gd name="T16" fmla="*/ 381 w 444"/>
                  <a:gd name="T17" fmla="*/ 62 h 435"/>
                  <a:gd name="T18" fmla="*/ 381 w 444"/>
                  <a:gd name="T19" fmla="*/ 62 h 435"/>
                  <a:gd name="T20" fmla="*/ 239 w 444"/>
                  <a:gd name="T21" fmla="*/ 319 h 435"/>
                  <a:gd name="T22" fmla="*/ 230 w 444"/>
                  <a:gd name="T23" fmla="*/ 204 h 435"/>
                  <a:gd name="T24" fmla="*/ 381 w 444"/>
                  <a:gd name="T25" fmla="*/ 62 h 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35">
                    <a:moveTo>
                      <a:pt x="425" y="17"/>
                    </a:moveTo>
                    <a:lnTo>
                      <a:pt x="425" y="17"/>
                    </a:lnTo>
                    <a:cubicBezTo>
                      <a:pt x="408" y="0"/>
                      <a:pt x="399" y="17"/>
                      <a:pt x="345" y="35"/>
                    </a:cubicBezTo>
                    <a:cubicBezTo>
                      <a:pt x="221" y="97"/>
                      <a:pt x="0" y="222"/>
                      <a:pt x="0" y="222"/>
                    </a:cubicBezTo>
                    <a:cubicBezTo>
                      <a:pt x="195" y="248"/>
                      <a:pt x="195" y="248"/>
                      <a:pt x="195" y="248"/>
                    </a:cubicBezTo>
                    <a:cubicBezTo>
                      <a:pt x="221" y="434"/>
                      <a:pt x="221" y="434"/>
                      <a:pt x="221" y="434"/>
                    </a:cubicBezTo>
                    <a:cubicBezTo>
                      <a:pt x="221" y="434"/>
                      <a:pt x="345" y="222"/>
                      <a:pt x="399" y="89"/>
                    </a:cubicBezTo>
                    <a:cubicBezTo>
                      <a:pt x="425" y="44"/>
                      <a:pt x="443" y="26"/>
                      <a:pt x="425" y="17"/>
                    </a:cubicBezTo>
                    <a:close/>
                    <a:moveTo>
                      <a:pt x="381" y="62"/>
                    </a:moveTo>
                    <a:lnTo>
                      <a:pt x="381" y="62"/>
                    </a:lnTo>
                    <a:cubicBezTo>
                      <a:pt x="239" y="319"/>
                      <a:pt x="239" y="319"/>
                      <a:pt x="239" y="319"/>
                    </a:cubicBezTo>
                    <a:cubicBezTo>
                      <a:pt x="230" y="204"/>
                      <a:pt x="230" y="204"/>
                      <a:pt x="230" y="204"/>
                    </a:cubicBezTo>
                    <a:lnTo>
                      <a:pt x="381" y="62"/>
                    </a:lnTo>
                    <a:close/>
                  </a:path>
                </a:pathLst>
              </a:custGeom>
              <a:solidFill>
                <a:srgbClr val="37A2B0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534670" eaLnBrk="1" fontAlgn="auto" hangingPunct="1">
                  <a:spcBef>
                    <a:spcPts val="0"/>
                  </a:spcBef>
                  <a:spcAft>
                    <a:spcPts val="0"/>
                  </a:spcAft>
                </a:pPr>
                <a:endParaRPr kumimoji="0" lang="en-US" sz="2105">
                  <a:solidFill>
                    <a:prstClr val="black"/>
                  </a:solidFill>
                  <a:latin typeface="Calibri" panose="020F0502020204030204"/>
                  <a:ea typeface="+mn-ea"/>
                </a:endParaRPr>
              </a:p>
            </p:txBody>
          </p:sp>
          <p:grpSp>
            <p:nvGrpSpPr>
              <p:cNvPr id="60" name="组合 59"/>
              <p:cNvGrpSpPr/>
              <p:nvPr/>
            </p:nvGrpSpPr>
            <p:grpSpPr>
              <a:xfrm>
                <a:off x="4833257" y="2651265"/>
                <a:ext cx="2990041" cy="461665"/>
                <a:chOff x="4833257" y="2845332"/>
                <a:chExt cx="2990041" cy="461665"/>
              </a:xfrm>
            </p:grpSpPr>
            <p:sp>
              <p:nvSpPr>
                <p:cNvPr id="61" name="文本框 60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4833257" y="2845332"/>
                  <a:ext cx="98697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64B5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04  |</a:t>
                  </a:r>
                  <a:endParaRPr lang="zh-CN" altLang="en-US" sz="2400" b="1" dirty="0">
                    <a:solidFill>
                      <a:srgbClr val="64B5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2" name="文本框 61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5704212" y="2845332"/>
                  <a:ext cx="211908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spc="300" dirty="0">
                      <a:solidFill>
                        <a:srgbClr val="61B5C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后期安排</a:t>
                  </a:r>
                  <a:endParaRPr lang="zh-CN" altLang="en-US" sz="2400" b="1" spc="300" dirty="0">
                    <a:solidFill>
                      <a:srgbClr val="61B5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67" name="组合 66"/>
          <p:cNvGrpSpPr/>
          <p:nvPr/>
        </p:nvGrpSpPr>
        <p:grpSpPr>
          <a:xfrm>
            <a:off x="2909833" y="2417659"/>
            <a:ext cx="1107996" cy="2086816"/>
            <a:chOff x="1541882" y="2548463"/>
            <a:chExt cx="1107996" cy="2086816"/>
          </a:xfrm>
        </p:grpSpPr>
        <p:sp>
          <p:nvSpPr>
            <p:cNvPr id="64" name="文本框 63"/>
            <p:cNvSpPr txBox="1"/>
            <p:nvPr/>
          </p:nvSpPr>
          <p:spPr>
            <a:xfrm rot="5400000">
              <a:off x="1637271" y="2453074"/>
              <a:ext cx="91721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600" b="1" dirty="0">
                  <a:solidFill>
                    <a:srgbClr val="4AAD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lang="zh-CN" altLang="en-US" sz="6600" b="1" dirty="0">
                <a:solidFill>
                  <a:srgbClr val="4AAD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695022" y="3203300"/>
              <a:ext cx="461665" cy="143197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dirty="0">
                  <a:solidFill>
                    <a:srgbClr val="4AAD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ONTENTS</a:t>
              </a:r>
              <a:endParaRPr lang="zh-CN" altLang="en-US" dirty="0">
                <a:solidFill>
                  <a:srgbClr val="4AAD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2023838" y="3203300"/>
              <a:ext cx="492443" cy="143197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4AADB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  <a:endParaRPr lang="zh-CN" altLang="en-US" sz="2000" b="1" dirty="0">
                <a:solidFill>
                  <a:srgbClr val="4AADB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2" name="直接连接符 71"/>
          <p:cNvCxnSpPr/>
          <p:nvPr/>
        </p:nvCxnSpPr>
        <p:spPr>
          <a:xfrm>
            <a:off x="-182880" y="1002048"/>
            <a:ext cx="12550140" cy="0"/>
          </a:xfrm>
          <a:prstGeom prst="line">
            <a:avLst/>
          </a:prstGeom>
          <a:ln>
            <a:solidFill>
              <a:srgbClr val="4AAD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-182880" y="5734068"/>
            <a:ext cx="12550140" cy="0"/>
          </a:xfrm>
          <a:prstGeom prst="line">
            <a:avLst/>
          </a:prstGeom>
          <a:ln>
            <a:solidFill>
              <a:srgbClr val="4AAD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H="1">
            <a:off x="1695216" y="-150812"/>
            <a:ext cx="19284" cy="7223759"/>
          </a:xfrm>
          <a:prstGeom prst="line">
            <a:avLst/>
          </a:prstGeom>
          <a:ln>
            <a:solidFill>
              <a:srgbClr val="4AAD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H="1">
            <a:off x="10626890" y="-150812"/>
            <a:ext cx="19284" cy="7223759"/>
          </a:xfrm>
          <a:prstGeom prst="line">
            <a:avLst/>
          </a:prstGeom>
          <a:ln>
            <a:solidFill>
              <a:srgbClr val="4AAD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53947" y="-238869"/>
            <a:ext cx="12550140" cy="7223759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7594258" y="2734342"/>
            <a:ext cx="1468169" cy="1277337"/>
            <a:chOff x="4860883" y="2189573"/>
            <a:chExt cx="2720481" cy="2366874"/>
          </a:xfrm>
        </p:grpSpPr>
        <p:grpSp>
          <p:nvGrpSpPr>
            <p:cNvPr id="30" name="组合 29"/>
            <p:cNvGrpSpPr/>
            <p:nvPr/>
          </p:nvGrpSpPr>
          <p:grpSpPr>
            <a:xfrm>
              <a:off x="4860883" y="2189573"/>
              <a:ext cx="2720481" cy="2366874"/>
              <a:chOff x="3798124" y="1016405"/>
              <a:chExt cx="4588132" cy="3991769"/>
            </a:xfrm>
          </p:grpSpPr>
          <p:sp>
            <p:nvSpPr>
              <p:cNvPr id="18" name="Freeform 9"/>
              <p:cNvSpPr/>
              <p:nvPr/>
            </p:nvSpPr>
            <p:spPr bwMode="auto">
              <a:xfrm>
                <a:off x="3801081" y="1026752"/>
                <a:ext cx="4582220" cy="3970271"/>
              </a:xfrm>
              <a:custGeom>
                <a:avLst/>
                <a:gdLst>
                  <a:gd name="T0" fmla="*/ 2326 w 3100"/>
                  <a:gd name="T1" fmla="*/ 0 h 2686"/>
                  <a:gd name="T2" fmla="*/ 3100 w 3100"/>
                  <a:gd name="T3" fmla="*/ 1344 h 2686"/>
                  <a:gd name="T4" fmla="*/ 2326 w 3100"/>
                  <a:gd name="T5" fmla="*/ 2686 h 2686"/>
                  <a:gd name="T6" fmla="*/ 774 w 3100"/>
                  <a:gd name="T7" fmla="*/ 2686 h 2686"/>
                  <a:gd name="T8" fmla="*/ 0 w 3100"/>
                  <a:gd name="T9" fmla="*/ 1344 h 2686"/>
                  <a:gd name="T10" fmla="*/ 774 w 3100"/>
                  <a:gd name="T11" fmla="*/ 0 h 2686"/>
                  <a:gd name="T12" fmla="*/ 2326 w 3100"/>
                  <a:gd name="T13" fmla="*/ 0 h 2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00" h="2686">
                    <a:moveTo>
                      <a:pt x="2326" y="0"/>
                    </a:moveTo>
                    <a:lnTo>
                      <a:pt x="3100" y="1344"/>
                    </a:lnTo>
                    <a:lnTo>
                      <a:pt x="2326" y="2686"/>
                    </a:lnTo>
                    <a:lnTo>
                      <a:pt x="774" y="2686"/>
                    </a:lnTo>
                    <a:lnTo>
                      <a:pt x="0" y="1344"/>
                    </a:lnTo>
                    <a:lnTo>
                      <a:pt x="774" y="0"/>
                    </a:lnTo>
                    <a:lnTo>
                      <a:pt x="2326" y="0"/>
                    </a:lnTo>
                    <a:close/>
                  </a:path>
                </a:pathLst>
              </a:custGeom>
              <a:solidFill>
                <a:srgbClr val="5DB6C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345"/>
              <p:cNvSpPr/>
              <p:nvPr/>
            </p:nvSpPr>
            <p:spPr bwMode="auto">
              <a:xfrm>
                <a:off x="4946668" y="1029745"/>
                <a:ext cx="3439588" cy="1986823"/>
              </a:xfrm>
              <a:custGeom>
                <a:avLst/>
                <a:gdLst>
                  <a:gd name="T0" fmla="*/ 2273 w 3407"/>
                  <a:gd name="T1" fmla="*/ 0 h 1968"/>
                  <a:gd name="T2" fmla="*/ 0 w 3407"/>
                  <a:gd name="T3" fmla="*/ 0 h 1968"/>
                  <a:gd name="T4" fmla="*/ 3407 w 3407"/>
                  <a:gd name="T5" fmla="*/ 1968 h 1968"/>
                  <a:gd name="T6" fmla="*/ 2273 w 3407"/>
                  <a:gd name="T7" fmla="*/ 0 h 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8">
                    <a:moveTo>
                      <a:pt x="2273" y="0"/>
                    </a:moveTo>
                    <a:lnTo>
                      <a:pt x="0" y="0"/>
                    </a:lnTo>
                    <a:lnTo>
                      <a:pt x="3407" y="1968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22"/>
              <p:cNvSpPr/>
              <p:nvPr/>
            </p:nvSpPr>
            <p:spPr bwMode="auto">
              <a:xfrm>
                <a:off x="3800811" y="1028230"/>
                <a:ext cx="3439588" cy="1986823"/>
              </a:xfrm>
              <a:custGeom>
                <a:avLst/>
                <a:gdLst>
                  <a:gd name="T0" fmla="*/ 3407 w 3407"/>
                  <a:gd name="T1" fmla="*/ 0 h 1968"/>
                  <a:gd name="T2" fmla="*/ 1134 w 3407"/>
                  <a:gd name="T3" fmla="*/ 0 h 1968"/>
                  <a:gd name="T4" fmla="*/ 0 w 3407"/>
                  <a:gd name="T5" fmla="*/ 1968 h 1968"/>
                  <a:gd name="T6" fmla="*/ 3407 w 3407"/>
                  <a:gd name="T7" fmla="*/ 0 h 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8">
                    <a:moveTo>
                      <a:pt x="3407" y="0"/>
                    </a:moveTo>
                    <a:lnTo>
                      <a:pt x="1134" y="0"/>
                    </a:lnTo>
                    <a:lnTo>
                      <a:pt x="0" y="1968"/>
                    </a:lnTo>
                    <a:lnTo>
                      <a:pt x="3407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25"/>
              <p:cNvSpPr/>
              <p:nvPr/>
            </p:nvSpPr>
            <p:spPr bwMode="auto">
              <a:xfrm>
                <a:off x="3800811" y="3024379"/>
                <a:ext cx="3439588" cy="1983795"/>
              </a:xfrm>
              <a:custGeom>
                <a:avLst/>
                <a:gdLst>
                  <a:gd name="T0" fmla="*/ 0 w 3407"/>
                  <a:gd name="T1" fmla="*/ 0 h 1965"/>
                  <a:gd name="T2" fmla="*/ 1134 w 3407"/>
                  <a:gd name="T3" fmla="*/ 1965 h 1965"/>
                  <a:gd name="T4" fmla="*/ 3407 w 3407"/>
                  <a:gd name="T5" fmla="*/ 1965 h 1965"/>
                  <a:gd name="T6" fmla="*/ 0 w 3407"/>
                  <a:gd name="T7" fmla="*/ 0 h 19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5">
                    <a:moveTo>
                      <a:pt x="0" y="0"/>
                    </a:moveTo>
                    <a:lnTo>
                      <a:pt x="1134" y="1965"/>
                    </a:lnTo>
                    <a:lnTo>
                      <a:pt x="3407" y="19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33"/>
              <p:cNvSpPr/>
              <p:nvPr/>
            </p:nvSpPr>
            <p:spPr bwMode="auto">
              <a:xfrm>
                <a:off x="4946668" y="3016568"/>
                <a:ext cx="3439588" cy="1983795"/>
              </a:xfrm>
              <a:custGeom>
                <a:avLst/>
                <a:gdLst>
                  <a:gd name="T0" fmla="*/ 3407 w 3407"/>
                  <a:gd name="T1" fmla="*/ 0 h 1965"/>
                  <a:gd name="T2" fmla="*/ 0 w 3407"/>
                  <a:gd name="T3" fmla="*/ 1965 h 1965"/>
                  <a:gd name="T4" fmla="*/ 2273 w 3407"/>
                  <a:gd name="T5" fmla="*/ 1965 h 1965"/>
                  <a:gd name="T6" fmla="*/ 3407 w 3407"/>
                  <a:gd name="T7" fmla="*/ 0 h 19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5">
                    <a:moveTo>
                      <a:pt x="3407" y="0"/>
                    </a:moveTo>
                    <a:lnTo>
                      <a:pt x="0" y="1965"/>
                    </a:lnTo>
                    <a:lnTo>
                      <a:pt x="2273" y="1965"/>
                    </a:lnTo>
                    <a:lnTo>
                      <a:pt x="3407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31"/>
              <p:cNvSpPr/>
              <p:nvPr/>
            </p:nvSpPr>
            <p:spPr bwMode="auto">
              <a:xfrm>
                <a:off x="3798124" y="1016405"/>
                <a:ext cx="4524573" cy="3915581"/>
              </a:xfrm>
              <a:custGeom>
                <a:avLst/>
                <a:gdLst>
                  <a:gd name="T0" fmla="*/ 2297 w 3061"/>
                  <a:gd name="T1" fmla="*/ 0 h 2649"/>
                  <a:gd name="T2" fmla="*/ 3061 w 3061"/>
                  <a:gd name="T3" fmla="*/ 1325 h 2649"/>
                  <a:gd name="T4" fmla="*/ 2297 w 3061"/>
                  <a:gd name="T5" fmla="*/ 2649 h 2649"/>
                  <a:gd name="T6" fmla="*/ 764 w 3061"/>
                  <a:gd name="T7" fmla="*/ 2649 h 2649"/>
                  <a:gd name="T8" fmla="*/ 0 w 3061"/>
                  <a:gd name="T9" fmla="*/ 1325 h 2649"/>
                  <a:gd name="T10" fmla="*/ 764 w 3061"/>
                  <a:gd name="T11" fmla="*/ 0 h 2649"/>
                  <a:gd name="T12" fmla="*/ 2297 w 3061"/>
                  <a:gd name="T13" fmla="*/ 0 h 26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61" h="2649">
                    <a:moveTo>
                      <a:pt x="2297" y="0"/>
                    </a:moveTo>
                    <a:lnTo>
                      <a:pt x="3061" y="1325"/>
                    </a:lnTo>
                    <a:lnTo>
                      <a:pt x="2297" y="2649"/>
                    </a:lnTo>
                    <a:lnTo>
                      <a:pt x="764" y="2649"/>
                    </a:lnTo>
                    <a:lnTo>
                      <a:pt x="0" y="1325"/>
                    </a:lnTo>
                    <a:lnTo>
                      <a:pt x="764" y="0"/>
                    </a:lnTo>
                    <a:lnTo>
                      <a:pt x="229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33"/>
              <p:cNvSpPr/>
              <p:nvPr/>
            </p:nvSpPr>
            <p:spPr bwMode="auto">
              <a:xfrm>
                <a:off x="6059671" y="1016405"/>
                <a:ext cx="2263026" cy="1958530"/>
              </a:xfrm>
              <a:custGeom>
                <a:avLst/>
                <a:gdLst>
                  <a:gd name="T0" fmla="*/ 767 w 1531"/>
                  <a:gd name="T1" fmla="*/ 0 h 1325"/>
                  <a:gd name="T2" fmla="*/ 767 w 1531"/>
                  <a:gd name="T3" fmla="*/ 0 h 1325"/>
                  <a:gd name="T4" fmla="*/ 0 w 1531"/>
                  <a:gd name="T5" fmla="*/ 442 h 1325"/>
                  <a:gd name="T6" fmla="*/ 1531 w 1531"/>
                  <a:gd name="T7" fmla="*/ 1325 h 1325"/>
                  <a:gd name="T8" fmla="*/ 767 w 1531"/>
                  <a:gd name="T9" fmla="*/ 0 h 1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1" h="1325">
                    <a:moveTo>
                      <a:pt x="767" y="0"/>
                    </a:moveTo>
                    <a:lnTo>
                      <a:pt x="767" y="0"/>
                    </a:lnTo>
                    <a:lnTo>
                      <a:pt x="0" y="442"/>
                    </a:lnTo>
                    <a:lnTo>
                      <a:pt x="1531" y="1325"/>
                    </a:lnTo>
                    <a:lnTo>
                      <a:pt x="7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35"/>
              <p:cNvSpPr/>
              <p:nvPr/>
            </p:nvSpPr>
            <p:spPr bwMode="auto">
              <a:xfrm>
                <a:off x="3798124" y="2974934"/>
                <a:ext cx="3395277" cy="1957051"/>
              </a:xfrm>
              <a:custGeom>
                <a:avLst/>
                <a:gdLst>
                  <a:gd name="T0" fmla="*/ 0 w 2297"/>
                  <a:gd name="T1" fmla="*/ 0 h 1324"/>
                  <a:gd name="T2" fmla="*/ 764 w 2297"/>
                  <a:gd name="T3" fmla="*/ 1324 h 1324"/>
                  <a:gd name="T4" fmla="*/ 2297 w 2297"/>
                  <a:gd name="T5" fmla="*/ 1324 h 1324"/>
                  <a:gd name="T6" fmla="*/ 764 w 2297"/>
                  <a:gd name="T7" fmla="*/ 1324 h 1324"/>
                  <a:gd name="T8" fmla="*/ 1530 w 2297"/>
                  <a:gd name="T9" fmla="*/ 882 h 1324"/>
                  <a:gd name="T10" fmla="*/ 0 w 2297"/>
                  <a:gd name="T11" fmla="*/ 0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97" h="1324">
                    <a:moveTo>
                      <a:pt x="0" y="0"/>
                    </a:moveTo>
                    <a:lnTo>
                      <a:pt x="764" y="1324"/>
                    </a:lnTo>
                    <a:lnTo>
                      <a:pt x="2297" y="1324"/>
                    </a:lnTo>
                    <a:lnTo>
                      <a:pt x="764" y="1324"/>
                    </a:lnTo>
                    <a:lnTo>
                      <a:pt x="1530" y="88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137"/>
              <p:cNvSpPr/>
              <p:nvPr/>
            </p:nvSpPr>
            <p:spPr bwMode="auto">
              <a:xfrm>
                <a:off x="6059671" y="2974934"/>
                <a:ext cx="2263026" cy="1957051"/>
              </a:xfrm>
              <a:custGeom>
                <a:avLst/>
                <a:gdLst>
                  <a:gd name="T0" fmla="*/ 1531 w 1531"/>
                  <a:gd name="T1" fmla="*/ 0 h 1324"/>
                  <a:gd name="T2" fmla="*/ 0 w 1531"/>
                  <a:gd name="T3" fmla="*/ 882 h 1324"/>
                  <a:gd name="T4" fmla="*/ 767 w 1531"/>
                  <a:gd name="T5" fmla="*/ 1324 h 1324"/>
                  <a:gd name="T6" fmla="*/ 1531 w 1531"/>
                  <a:gd name="T7" fmla="*/ 0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31" h="1324">
                    <a:moveTo>
                      <a:pt x="1531" y="0"/>
                    </a:moveTo>
                    <a:lnTo>
                      <a:pt x="0" y="882"/>
                    </a:lnTo>
                    <a:lnTo>
                      <a:pt x="767" y="1324"/>
                    </a:lnTo>
                    <a:lnTo>
                      <a:pt x="15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139"/>
              <p:cNvSpPr/>
              <p:nvPr/>
            </p:nvSpPr>
            <p:spPr bwMode="auto">
              <a:xfrm>
                <a:off x="4927420" y="4278650"/>
                <a:ext cx="2265982" cy="653336"/>
              </a:xfrm>
              <a:custGeom>
                <a:avLst/>
                <a:gdLst>
                  <a:gd name="T0" fmla="*/ 766 w 1533"/>
                  <a:gd name="T1" fmla="*/ 0 h 442"/>
                  <a:gd name="T2" fmla="*/ 0 w 1533"/>
                  <a:gd name="T3" fmla="*/ 442 h 442"/>
                  <a:gd name="T4" fmla="*/ 1533 w 1533"/>
                  <a:gd name="T5" fmla="*/ 442 h 442"/>
                  <a:gd name="T6" fmla="*/ 766 w 1533"/>
                  <a:gd name="T7" fmla="*/ 0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33" h="442">
                    <a:moveTo>
                      <a:pt x="766" y="0"/>
                    </a:moveTo>
                    <a:lnTo>
                      <a:pt x="0" y="442"/>
                    </a:lnTo>
                    <a:lnTo>
                      <a:pt x="1533" y="442"/>
                    </a:lnTo>
                    <a:lnTo>
                      <a:pt x="7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141"/>
              <p:cNvSpPr/>
              <p:nvPr/>
            </p:nvSpPr>
            <p:spPr bwMode="auto">
              <a:xfrm>
                <a:off x="3798124" y="1016405"/>
                <a:ext cx="2261547" cy="1958530"/>
              </a:xfrm>
              <a:custGeom>
                <a:avLst/>
                <a:gdLst>
                  <a:gd name="T0" fmla="*/ 764 w 1530"/>
                  <a:gd name="T1" fmla="*/ 0 h 1325"/>
                  <a:gd name="T2" fmla="*/ 764 w 1530"/>
                  <a:gd name="T3" fmla="*/ 0 h 1325"/>
                  <a:gd name="T4" fmla="*/ 0 w 1530"/>
                  <a:gd name="T5" fmla="*/ 1325 h 1325"/>
                  <a:gd name="T6" fmla="*/ 1530 w 1530"/>
                  <a:gd name="T7" fmla="*/ 442 h 1325"/>
                  <a:gd name="T8" fmla="*/ 764 w 1530"/>
                  <a:gd name="T9" fmla="*/ 0 h 1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0" h="1325">
                    <a:moveTo>
                      <a:pt x="764" y="0"/>
                    </a:moveTo>
                    <a:lnTo>
                      <a:pt x="764" y="0"/>
                    </a:lnTo>
                    <a:lnTo>
                      <a:pt x="0" y="1325"/>
                    </a:lnTo>
                    <a:lnTo>
                      <a:pt x="1530" y="442"/>
                    </a:lnTo>
                    <a:lnTo>
                      <a:pt x="76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43"/>
              <p:cNvSpPr/>
              <p:nvPr/>
            </p:nvSpPr>
            <p:spPr bwMode="auto">
              <a:xfrm>
                <a:off x="4927420" y="1016405"/>
                <a:ext cx="2265982" cy="653336"/>
              </a:xfrm>
              <a:custGeom>
                <a:avLst/>
                <a:gdLst>
                  <a:gd name="T0" fmla="*/ 1533 w 1533"/>
                  <a:gd name="T1" fmla="*/ 0 h 442"/>
                  <a:gd name="T2" fmla="*/ 0 w 1533"/>
                  <a:gd name="T3" fmla="*/ 0 h 442"/>
                  <a:gd name="T4" fmla="*/ 766 w 1533"/>
                  <a:gd name="T5" fmla="*/ 442 h 442"/>
                  <a:gd name="T6" fmla="*/ 1533 w 1533"/>
                  <a:gd name="T7" fmla="*/ 0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33" h="442">
                    <a:moveTo>
                      <a:pt x="1533" y="0"/>
                    </a:moveTo>
                    <a:lnTo>
                      <a:pt x="0" y="0"/>
                    </a:lnTo>
                    <a:lnTo>
                      <a:pt x="766" y="442"/>
                    </a:lnTo>
                    <a:lnTo>
                      <a:pt x="153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1" name="Freeform 28"/>
            <p:cNvSpPr>
              <a:spLocks noChangeArrowheads="1"/>
            </p:cNvSpPr>
            <p:nvPr/>
          </p:nvSpPr>
          <p:spPr bwMode="auto">
            <a:xfrm>
              <a:off x="5740177" y="2968675"/>
              <a:ext cx="961892" cy="808671"/>
            </a:xfrm>
            <a:custGeom>
              <a:avLst/>
              <a:gdLst>
                <a:gd name="T0" fmla="*/ 124 w 498"/>
                <a:gd name="T1" fmla="*/ 81 h 418"/>
                <a:gd name="T2" fmla="*/ 124 w 498"/>
                <a:gd name="T3" fmla="*/ 81 h 418"/>
                <a:gd name="T4" fmla="*/ 36 w 498"/>
                <a:gd name="T5" fmla="*/ 258 h 418"/>
                <a:gd name="T6" fmla="*/ 346 w 498"/>
                <a:gd name="T7" fmla="*/ 116 h 418"/>
                <a:gd name="T8" fmla="*/ 9 w 498"/>
                <a:gd name="T9" fmla="*/ 382 h 418"/>
                <a:gd name="T10" fmla="*/ 44 w 498"/>
                <a:gd name="T11" fmla="*/ 400 h 418"/>
                <a:gd name="T12" fmla="*/ 97 w 498"/>
                <a:gd name="T13" fmla="*/ 311 h 418"/>
                <a:gd name="T14" fmla="*/ 293 w 498"/>
                <a:gd name="T15" fmla="*/ 311 h 418"/>
                <a:gd name="T16" fmla="*/ 469 w 498"/>
                <a:gd name="T17" fmla="*/ 72 h 418"/>
                <a:gd name="T18" fmla="*/ 124 w 498"/>
                <a:gd name="T19" fmla="*/ 81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8" h="418">
                  <a:moveTo>
                    <a:pt x="124" y="81"/>
                  </a:moveTo>
                  <a:lnTo>
                    <a:pt x="124" y="81"/>
                  </a:lnTo>
                  <a:cubicBezTo>
                    <a:pt x="27" y="134"/>
                    <a:pt x="36" y="222"/>
                    <a:pt x="36" y="258"/>
                  </a:cubicBezTo>
                  <a:cubicBezTo>
                    <a:pt x="159" y="107"/>
                    <a:pt x="346" y="116"/>
                    <a:pt x="346" y="116"/>
                  </a:cubicBezTo>
                  <a:cubicBezTo>
                    <a:pt x="346" y="116"/>
                    <a:pt x="80" y="204"/>
                    <a:pt x="9" y="382"/>
                  </a:cubicBezTo>
                  <a:cubicBezTo>
                    <a:pt x="0" y="400"/>
                    <a:pt x="36" y="417"/>
                    <a:pt x="44" y="400"/>
                  </a:cubicBezTo>
                  <a:cubicBezTo>
                    <a:pt x="62" y="355"/>
                    <a:pt x="97" y="311"/>
                    <a:pt x="97" y="311"/>
                  </a:cubicBezTo>
                  <a:cubicBezTo>
                    <a:pt x="151" y="329"/>
                    <a:pt x="230" y="355"/>
                    <a:pt x="293" y="311"/>
                  </a:cubicBezTo>
                  <a:cubicBezTo>
                    <a:pt x="363" y="258"/>
                    <a:pt x="363" y="134"/>
                    <a:pt x="469" y="72"/>
                  </a:cubicBezTo>
                  <a:cubicBezTo>
                    <a:pt x="497" y="63"/>
                    <a:pt x="249" y="0"/>
                    <a:pt x="124" y="81"/>
                  </a:cubicBezTo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53467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0" lang="en-US" sz="2105">
                <a:solidFill>
                  <a:prstClr val="black"/>
                </a:solidFill>
                <a:latin typeface="Calibri" panose="020F0502020204030204"/>
                <a:ea typeface="+mn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379820" y="2265015"/>
            <a:ext cx="4667962" cy="2215991"/>
            <a:chOff x="3887142" y="3648334"/>
            <a:chExt cx="4667962" cy="2215991"/>
          </a:xfrm>
        </p:grpSpPr>
        <p:sp>
          <p:nvSpPr>
            <p:cNvPr id="33" name="文本框 32"/>
            <p:cNvSpPr txBox="1"/>
            <p:nvPr/>
          </p:nvSpPr>
          <p:spPr>
            <a:xfrm>
              <a:off x="3887142" y="4904032"/>
              <a:ext cx="4667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spc="300" dirty="0">
                  <a:solidFill>
                    <a:srgbClr val="61B5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研究背景及意义</a:t>
              </a:r>
              <a:endPara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444777" y="3648334"/>
              <a:ext cx="1295400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800" dirty="0">
                  <a:solidFill>
                    <a:srgbClr val="5DB6C3"/>
                  </a:solidFill>
                </a:rPr>
                <a:t>P</a:t>
              </a:r>
              <a:endParaRPr lang="zh-CN" altLang="en-US" sz="13800" dirty="0">
                <a:solidFill>
                  <a:srgbClr val="5DB6C3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541899" y="4511040"/>
              <a:ext cx="1332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5DB6C3"/>
                  </a:solidFill>
                </a:rPr>
                <a:t>art 01</a:t>
              </a:r>
              <a:endParaRPr lang="zh-CN" altLang="en-US" sz="2000" b="1" dirty="0">
                <a:solidFill>
                  <a:srgbClr val="5DB6C3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/>
          <a:srcRect l="651" t="3819" r="2203" b="12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" cstate="print"/>
          <a:srcRect t="50000"/>
          <a:stretch>
            <a:fillRect/>
          </a:stretch>
        </p:blipFill>
        <p:spPr>
          <a:xfrm>
            <a:off x="5552575" y="-1"/>
            <a:ext cx="1086850" cy="157723"/>
          </a:xfrm>
          <a:custGeom>
            <a:avLst/>
            <a:gdLst>
              <a:gd name="connsiteX0" fmla="*/ 0 w 4121253"/>
              <a:gd name="connsiteY0" fmla="*/ 0 h 1792380"/>
              <a:gd name="connsiteX1" fmla="*/ 4121253 w 4121253"/>
              <a:gd name="connsiteY1" fmla="*/ 0 h 1792380"/>
              <a:gd name="connsiteX2" fmla="*/ 4121253 w 4121253"/>
              <a:gd name="connsiteY2" fmla="*/ 1792380 h 1792380"/>
              <a:gd name="connsiteX3" fmla="*/ 0 w 4121253"/>
              <a:gd name="connsiteY3" fmla="*/ 1792380 h 179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253" h="1792380">
                <a:moveTo>
                  <a:pt x="0" y="0"/>
                </a:moveTo>
                <a:lnTo>
                  <a:pt x="4121253" y="0"/>
                </a:lnTo>
                <a:lnTo>
                  <a:pt x="4121253" y="1792380"/>
                </a:lnTo>
                <a:lnTo>
                  <a:pt x="0" y="1792380"/>
                </a:lnTo>
                <a:close/>
              </a:path>
            </a:pathLst>
          </a:custGeom>
        </p:spPr>
      </p:pic>
      <p:sp>
        <p:nvSpPr>
          <p:cNvPr id="37" name="矩形 36"/>
          <p:cNvSpPr/>
          <p:nvPr/>
        </p:nvSpPr>
        <p:spPr>
          <a:xfrm>
            <a:off x="4791797" y="219906"/>
            <a:ext cx="2608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spc="300" dirty="0">
                <a:solidFill>
                  <a:srgbClr val="76A0A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  <a:endParaRPr lang="zh-CN" altLang="en-US" sz="2400" b="1" spc="300" dirty="0">
              <a:solidFill>
                <a:srgbClr val="76A0A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 Placeholder 33"/>
          <p:cNvSpPr txBox="1"/>
          <p:nvPr/>
        </p:nvSpPr>
        <p:spPr>
          <a:xfrm>
            <a:off x="6742446" y="2361161"/>
            <a:ext cx="1280649" cy="48592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id-ID" sz="2800" b="1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Fira Sans SemiBold Italic" panose="00000700000000000000" pitchFamily="50" charset="0"/>
              <a:cs typeface="Clear Sans" panose="020B05030302020203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98855" y="844550"/>
            <a:ext cx="477901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76A0A5"/>
                </a:solidFill>
              </a:rPr>
              <a:t>行业现状与痛点挑战</a:t>
            </a:r>
            <a:endParaRPr lang="zh-CN" altLang="en-US" b="1">
              <a:solidFill>
                <a:srgbClr val="76A0A5"/>
              </a:solidFill>
            </a:endParaRPr>
          </a:p>
          <a:p>
            <a:r>
              <a:rPr lang="zh-CN" altLang="en-US" b="1"/>
              <a:t>现状与管理痛点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我国馆藏文物数量超</a:t>
            </a:r>
            <a:r>
              <a:rPr lang="en-US" altLang="zh-CN"/>
              <a:t>1</a:t>
            </a:r>
            <a:r>
              <a:rPr lang="zh-CN" altLang="en-US"/>
              <a:t>亿件，但部分中小型博物馆仍使用纸质台账或单机</a:t>
            </a:r>
            <a:r>
              <a:rPr lang="en-US" altLang="zh-CN"/>
              <a:t>Excel</a:t>
            </a:r>
            <a:r>
              <a:rPr lang="zh-CN" altLang="en-US"/>
              <a:t>管理。这种传统模式存在效率低下、查阅困难、信息更新滞后等严重问题，易导致资料丢失或管理脱节。</a:t>
            </a:r>
            <a:endParaRPr lang="zh-CN" altLang="en-US"/>
          </a:p>
          <a:p>
            <a:r>
              <a:rPr lang="zh-CN" altLang="en-US" b="1"/>
              <a:t>业务流转挑战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实体文物的修复、调拨与跨地域借展等业务，流程繁琐、涉及人员多。由于缺乏统一的数字化追踪体系，展品的出入库、运输和借展状态难以实时监控，加剧了文物物理损坏和遗失风险。</a:t>
            </a:r>
            <a:endParaRPr lang="zh-CN" altLang="en-US"/>
          </a:p>
          <a:p>
            <a:r>
              <a:rPr lang="zh-CN" altLang="en-US" b="1"/>
              <a:t>线上展示需求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受限于实体展馆的空间约束和地域限制，大量珍贵文物无法被公众参观。国家正大力推动</a:t>
            </a:r>
            <a:r>
              <a:rPr lang="en-US" altLang="zh-CN"/>
              <a:t>“</a:t>
            </a:r>
            <a:r>
              <a:rPr lang="zh-CN" altLang="en-US"/>
              <a:t>互联网</a:t>
            </a:r>
            <a:r>
              <a:rPr lang="en-US" altLang="zh-CN"/>
              <a:t>+</a:t>
            </a:r>
            <a:r>
              <a:rPr lang="zh-CN" altLang="en-US"/>
              <a:t>中华文明</a:t>
            </a:r>
            <a:r>
              <a:rPr lang="en-US" altLang="zh-CN"/>
              <a:t>”</a:t>
            </a:r>
            <a:r>
              <a:rPr lang="zh-CN" altLang="en-US"/>
              <a:t>行动计划，要求博物馆加快实现数字化转型与</a:t>
            </a:r>
            <a:r>
              <a:rPr lang="en-US" altLang="zh-CN"/>
              <a:t>“</a:t>
            </a:r>
            <a:r>
              <a:rPr lang="zh-CN" altLang="en-US"/>
              <a:t>云展览</a:t>
            </a:r>
            <a:r>
              <a:rPr lang="en-US" altLang="zh-CN"/>
              <a:t>”</a:t>
            </a:r>
            <a:r>
              <a:rPr lang="zh-CN" altLang="en-US"/>
              <a:t>建设。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294120" y="844550"/>
            <a:ext cx="452945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76A0A5"/>
                </a:solidFill>
              </a:rPr>
              <a:t>技术机遇与破局方向</a:t>
            </a:r>
            <a:endParaRPr lang="zh-CN" altLang="en-US" b="1">
              <a:solidFill>
                <a:srgbClr val="76A0A5"/>
              </a:solidFill>
            </a:endParaRPr>
          </a:p>
          <a:p>
            <a:r>
              <a:rPr lang="zh-CN" altLang="en-US" b="1"/>
              <a:t>硬件算力与云计算成熟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云存储与分布式架构提供了强大的数据计算与存储能力，能够轻松支持海量高清文物图片、文献资料和</a:t>
            </a:r>
            <a:r>
              <a:rPr lang="en-US" altLang="zh-CN"/>
              <a:t>3D</a:t>
            </a:r>
            <a:r>
              <a:rPr lang="zh-CN" altLang="en-US"/>
              <a:t>模型的高效存取。</a:t>
            </a:r>
            <a:endParaRPr lang="zh-CN" altLang="en-US"/>
          </a:p>
          <a:p>
            <a:r>
              <a:rPr lang="en-US" altLang="zh-CN" b="1"/>
              <a:t>Web3D</a:t>
            </a:r>
            <a:r>
              <a:rPr lang="zh-CN" altLang="en-US" b="1"/>
              <a:t>渲染技术爆发：</a:t>
            </a:r>
            <a:endParaRPr lang="zh-CN" altLang="en-US" b="1"/>
          </a:p>
          <a:p>
            <a:r>
              <a:rPr lang="zh-CN" altLang="en-US"/>
              <a:t>以</a:t>
            </a:r>
            <a:r>
              <a:rPr lang="en-US" altLang="zh-CN"/>
              <a:t>Three.js</a:t>
            </a:r>
            <a:r>
              <a:rPr lang="zh-CN" altLang="en-US"/>
              <a:t>为代表的</a:t>
            </a:r>
            <a:r>
              <a:rPr lang="en-US" altLang="zh-CN"/>
              <a:t>WebGL</a:t>
            </a:r>
            <a:r>
              <a:rPr lang="zh-CN" altLang="en-US"/>
              <a:t>技术日趋成熟，打破了传统终端的限制，使得在普通浏览器中即可进行高保真、交互式的文物</a:t>
            </a:r>
            <a:r>
              <a:rPr lang="en-US" altLang="zh-CN"/>
              <a:t>3D</a:t>
            </a:r>
            <a:r>
              <a:rPr lang="zh-CN" altLang="en-US"/>
              <a:t>全视角展示成为现实。</a:t>
            </a:r>
            <a:endParaRPr lang="zh-CN" altLang="en-US"/>
          </a:p>
          <a:p>
            <a:r>
              <a:rPr lang="en-US" altLang="zh-CN" b="1"/>
              <a:t>AI</a:t>
            </a:r>
            <a:r>
              <a:rPr lang="zh-CN" altLang="en-US" b="1"/>
              <a:t>智能分析赋能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自然语言处理（</a:t>
            </a:r>
            <a:r>
              <a:rPr lang="en-US" altLang="zh-CN"/>
              <a:t>NLP</a:t>
            </a:r>
            <a:r>
              <a:rPr lang="zh-CN" altLang="en-US"/>
              <a:t>）与大模型技术可以提供智能问答、知识图谱查询与双层语义检索，极大降低了文博系统的检索门槛，提升用户体验。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/>
          <a:srcRect l="651" t="3819" r="2203" b="1245"/>
          <a:stretch>
            <a:fillRect/>
          </a:stretch>
        </p:blipFill>
        <p:spPr>
          <a:xfrm>
            <a:off x="0" y="176"/>
            <a:ext cx="12192000" cy="6858000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" cstate="print"/>
          <a:srcRect t="50000"/>
          <a:stretch>
            <a:fillRect/>
          </a:stretch>
        </p:blipFill>
        <p:spPr>
          <a:xfrm>
            <a:off x="5552575" y="-1"/>
            <a:ext cx="1086850" cy="157723"/>
          </a:xfrm>
          <a:custGeom>
            <a:avLst/>
            <a:gdLst>
              <a:gd name="connsiteX0" fmla="*/ 0 w 4121253"/>
              <a:gd name="connsiteY0" fmla="*/ 0 h 1792380"/>
              <a:gd name="connsiteX1" fmla="*/ 4121253 w 4121253"/>
              <a:gd name="connsiteY1" fmla="*/ 0 h 1792380"/>
              <a:gd name="connsiteX2" fmla="*/ 4121253 w 4121253"/>
              <a:gd name="connsiteY2" fmla="*/ 1792380 h 1792380"/>
              <a:gd name="connsiteX3" fmla="*/ 0 w 4121253"/>
              <a:gd name="connsiteY3" fmla="*/ 1792380 h 179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253" h="1792380">
                <a:moveTo>
                  <a:pt x="0" y="0"/>
                </a:moveTo>
                <a:lnTo>
                  <a:pt x="4121253" y="0"/>
                </a:lnTo>
                <a:lnTo>
                  <a:pt x="4121253" y="1792380"/>
                </a:lnTo>
                <a:lnTo>
                  <a:pt x="0" y="1792380"/>
                </a:lnTo>
                <a:close/>
              </a:path>
            </a:pathLst>
          </a:custGeom>
        </p:spPr>
      </p:pic>
      <p:sp>
        <p:nvSpPr>
          <p:cNvPr id="75" name="矩形 74"/>
          <p:cNvSpPr/>
          <p:nvPr/>
        </p:nvSpPr>
        <p:spPr>
          <a:xfrm>
            <a:off x="4791797" y="213737"/>
            <a:ext cx="2608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研究背景及意义</a:t>
            </a:r>
            <a:endParaRPr lang="zh-CN" altLang="en-US" sz="2400" b="1" spc="300" dirty="0">
              <a:solidFill>
                <a:srgbClr val="61B5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7" name="Group 22"/>
          <p:cNvGrpSpPr/>
          <p:nvPr>
            <p:custDataLst>
              <p:tags r:id="rId3"/>
            </p:custDataLst>
          </p:nvPr>
        </p:nvGrpSpPr>
        <p:grpSpPr>
          <a:xfrm>
            <a:off x="6428182" y="3752138"/>
            <a:ext cx="4192301" cy="1217066"/>
            <a:chOff x="6630373" y="3525073"/>
            <a:chExt cx="4192301" cy="1217066"/>
          </a:xfrm>
        </p:grpSpPr>
        <p:sp>
          <p:nvSpPr>
            <p:cNvPr id="118" name="Rectangle 23"/>
            <p:cNvSpPr/>
            <p:nvPr>
              <p:custDataLst>
                <p:tags r:id="rId4"/>
              </p:custDataLst>
            </p:nvPr>
          </p:nvSpPr>
          <p:spPr>
            <a:xfrm>
              <a:off x="6942646" y="3525073"/>
              <a:ext cx="3880028" cy="1217066"/>
            </a:xfrm>
            <a:prstGeom prst="rect">
              <a:avLst/>
            </a:prstGeom>
            <a:noFill/>
            <a:ln w="22225">
              <a:solidFill>
                <a:srgbClr val="83CF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19" name="Rounded Rectangle 24"/>
            <p:cNvSpPr/>
            <p:nvPr>
              <p:custDataLst>
                <p:tags r:id="rId5"/>
              </p:custDataLst>
            </p:nvPr>
          </p:nvSpPr>
          <p:spPr>
            <a:xfrm rot="2700000">
              <a:off x="6630373" y="3821332"/>
              <a:ext cx="624548" cy="624548"/>
            </a:xfrm>
            <a:prstGeom prst="roundRect">
              <a:avLst>
                <a:gd name="adj" fmla="val 19652"/>
              </a:avLst>
            </a:prstGeom>
            <a:solidFill>
              <a:srgbClr val="83CF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20" name="TextBox 47"/>
          <p:cNvSpPr txBox="1"/>
          <p:nvPr>
            <p:custDataLst>
              <p:tags r:id="rId6"/>
            </p:custDataLst>
          </p:nvPr>
        </p:nvSpPr>
        <p:spPr>
          <a:xfrm>
            <a:off x="7143979" y="4134600"/>
            <a:ext cx="3323074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通过数字化沉淀文物修复、借展、出入库等全生命周期数据，为后续的学术研究、大数据分析和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模型训练提供高质量的基础数据支持。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21" name="TextBox 41"/>
          <p:cNvSpPr txBox="1"/>
          <p:nvPr>
            <p:custDataLst>
              <p:tags r:id="rId7"/>
            </p:custDataLst>
          </p:nvPr>
        </p:nvSpPr>
        <p:spPr>
          <a:xfrm>
            <a:off x="6265399" y="3932262"/>
            <a:ext cx="941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22" name="Group 1"/>
          <p:cNvGrpSpPr/>
          <p:nvPr>
            <p:custDataLst>
              <p:tags r:id="rId8"/>
            </p:custDataLst>
          </p:nvPr>
        </p:nvGrpSpPr>
        <p:grpSpPr>
          <a:xfrm>
            <a:off x="1723205" y="2295197"/>
            <a:ext cx="4192301" cy="1217066"/>
            <a:chOff x="6630373" y="2068132"/>
            <a:chExt cx="4192301" cy="1217066"/>
          </a:xfrm>
        </p:grpSpPr>
        <p:sp>
          <p:nvSpPr>
            <p:cNvPr id="123" name="Rectangle 2"/>
            <p:cNvSpPr/>
            <p:nvPr>
              <p:custDataLst>
                <p:tags r:id="rId9"/>
              </p:custDataLst>
            </p:nvPr>
          </p:nvSpPr>
          <p:spPr>
            <a:xfrm>
              <a:off x="6942646" y="2068132"/>
              <a:ext cx="3880028" cy="1217066"/>
            </a:xfrm>
            <a:prstGeom prst="rect">
              <a:avLst/>
            </a:prstGeom>
            <a:noFill/>
            <a:ln w="22225">
              <a:solidFill>
                <a:srgbClr val="5DB6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24" name="Rounded Rectangle 3"/>
            <p:cNvSpPr/>
            <p:nvPr>
              <p:custDataLst>
                <p:tags r:id="rId10"/>
              </p:custDataLst>
            </p:nvPr>
          </p:nvSpPr>
          <p:spPr>
            <a:xfrm rot="2700000">
              <a:off x="6630373" y="2364391"/>
              <a:ext cx="624548" cy="624548"/>
            </a:xfrm>
            <a:prstGeom prst="roundRect">
              <a:avLst>
                <a:gd name="adj" fmla="val 19652"/>
              </a:avLst>
            </a:prstGeom>
            <a:solidFill>
              <a:srgbClr val="5DB6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25" name="Rectangle 38"/>
          <p:cNvSpPr/>
          <p:nvPr>
            <p:custDataLst>
              <p:tags r:id="rId11"/>
            </p:custDataLst>
          </p:nvPr>
        </p:nvSpPr>
        <p:spPr>
          <a:xfrm>
            <a:off x="2447474" y="2368662"/>
            <a:ext cx="1766887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+mn-ea"/>
                <a:sym typeface="+mn-lt"/>
              </a:rPr>
              <a:t>提升效率</a:t>
            </a:r>
            <a:endParaRPr lang="zh-CN" altLang="en-US" sz="1400" b="1" dirty="0">
              <a:cs typeface="+mn-ea"/>
              <a:sym typeface="+mn-lt"/>
            </a:endParaRPr>
          </a:p>
        </p:txBody>
      </p:sp>
      <p:sp>
        <p:nvSpPr>
          <p:cNvPr id="126" name="TextBox 39"/>
          <p:cNvSpPr txBox="1"/>
          <p:nvPr>
            <p:custDataLst>
              <p:tags r:id="rId12"/>
            </p:custDataLst>
          </p:nvPr>
        </p:nvSpPr>
        <p:spPr>
          <a:xfrm>
            <a:off x="1571518" y="2492209"/>
            <a:ext cx="941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7" name="TextBox 43"/>
          <p:cNvSpPr txBox="1"/>
          <p:nvPr>
            <p:custDataLst>
              <p:tags r:id="rId13"/>
            </p:custDataLst>
          </p:nvPr>
        </p:nvSpPr>
        <p:spPr>
          <a:xfrm>
            <a:off x="2423197" y="2644180"/>
            <a:ext cx="3328669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实现文物信息的全面数字化存储与管理，改变传统纸质档案查找困难的问题，大幅提高博物馆工作人员的信息检索与日常管理效率。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128" name="Group 8"/>
          <p:cNvGrpSpPr/>
          <p:nvPr>
            <p:custDataLst>
              <p:tags r:id="rId14"/>
            </p:custDataLst>
          </p:nvPr>
        </p:nvGrpSpPr>
        <p:grpSpPr>
          <a:xfrm>
            <a:off x="1749893" y="3752138"/>
            <a:ext cx="4192301" cy="1217066"/>
            <a:chOff x="6630373" y="3525073"/>
            <a:chExt cx="4192301" cy="1217066"/>
          </a:xfrm>
        </p:grpSpPr>
        <p:sp>
          <p:nvSpPr>
            <p:cNvPr id="129" name="Rectangle 9"/>
            <p:cNvSpPr/>
            <p:nvPr>
              <p:custDataLst>
                <p:tags r:id="rId15"/>
              </p:custDataLst>
            </p:nvPr>
          </p:nvSpPr>
          <p:spPr>
            <a:xfrm>
              <a:off x="6942646" y="3525073"/>
              <a:ext cx="3880028" cy="1217066"/>
            </a:xfrm>
            <a:prstGeom prst="rect">
              <a:avLst/>
            </a:prstGeom>
            <a:noFill/>
            <a:ln w="22225">
              <a:solidFill>
                <a:srgbClr val="83CF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0" name="Rounded Rectangle 10"/>
            <p:cNvSpPr/>
            <p:nvPr>
              <p:custDataLst>
                <p:tags r:id="rId16"/>
              </p:custDataLst>
            </p:nvPr>
          </p:nvSpPr>
          <p:spPr>
            <a:xfrm rot="2700000">
              <a:off x="6630373" y="3821332"/>
              <a:ext cx="624548" cy="624548"/>
            </a:xfrm>
            <a:prstGeom prst="roundRect">
              <a:avLst>
                <a:gd name="adj" fmla="val 19652"/>
              </a:avLst>
            </a:prstGeom>
            <a:solidFill>
              <a:srgbClr val="83CF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31" name="TextBox 42"/>
          <p:cNvSpPr txBox="1"/>
          <p:nvPr>
            <p:custDataLst>
              <p:tags r:id="rId17"/>
            </p:custDataLst>
          </p:nvPr>
        </p:nvSpPr>
        <p:spPr>
          <a:xfrm>
            <a:off x="1588777" y="3992024"/>
            <a:ext cx="941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2" name="TextBox 45"/>
          <p:cNvSpPr txBox="1"/>
          <p:nvPr>
            <p:custDataLst>
              <p:tags r:id="rId18"/>
            </p:custDataLst>
          </p:nvPr>
        </p:nvSpPr>
        <p:spPr>
          <a:xfrm>
            <a:off x="2428792" y="4087411"/>
            <a:ext cx="3323074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通过线上展览和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3D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数字化展示，打破物理空间限制，促进文化遗产保护与传播，显著提升博物馆的公共文化服务能力。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133" name="Group 15"/>
          <p:cNvGrpSpPr/>
          <p:nvPr>
            <p:custDataLst>
              <p:tags r:id="rId19"/>
            </p:custDataLst>
          </p:nvPr>
        </p:nvGrpSpPr>
        <p:grpSpPr>
          <a:xfrm>
            <a:off x="6428182" y="2295197"/>
            <a:ext cx="4192301" cy="1217066"/>
            <a:chOff x="6630373" y="2068132"/>
            <a:chExt cx="4192301" cy="1217066"/>
          </a:xfrm>
        </p:grpSpPr>
        <p:sp>
          <p:nvSpPr>
            <p:cNvPr id="134" name="Rectangle 16"/>
            <p:cNvSpPr/>
            <p:nvPr>
              <p:custDataLst>
                <p:tags r:id="rId20"/>
              </p:custDataLst>
            </p:nvPr>
          </p:nvSpPr>
          <p:spPr>
            <a:xfrm>
              <a:off x="6942646" y="2068132"/>
              <a:ext cx="3880028" cy="1217066"/>
            </a:xfrm>
            <a:prstGeom prst="rect">
              <a:avLst/>
            </a:prstGeom>
            <a:noFill/>
            <a:ln w="22225">
              <a:solidFill>
                <a:srgbClr val="5DB6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5" name="Rounded Rectangle 17"/>
            <p:cNvSpPr/>
            <p:nvPr>
              <p:custDataLst>
                <p:tags r:id="rId21"/>
              </p:custDataLst>
            </p:nvPr>
          </p:nvSpPr>
          <p:spPr>
            <a:xfrm rot="2700000">
              <a:off x="6630373" y="2364391"/>
              <a:ext cx="624548" cy="624548"/>
            </a:xfrm>
            <a:prstGeom prst="roundRect">
              <a:avLst>
                <a:gd name="adj" fmla="val 19652"/>
              </a:avLst>
            </a:prstGeom>
            <a:solidFill>
              <a:srgbClr val="5DB6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36" name="TextBox 40"/>
          <p:cNvSpPr txBox="1"/>
          <p:nvPr>
            <p:custDataLst>
              <p:tags r:id="rId22"/>
            </p:custDataLst>
          </p:nvPr>
        </p:nvSpPr>
        <p:spPr>
          <a:xfrm>
            <a:off x="6293551" y="2481583"/>
            <a:ext cx="941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7" name="TextBox 49"/>
          <p:cNvSpPr txBox="1"/>
          <p:nvPr>
            <p:custDataLst>
              <p:tags r:id="rId23"/>
            </p:custDataLst>
          </p:nvPr>
        </p:nvSpPr>
        <p:spPr>
          <a:xfrm>
            <a:off x="7150135" y="2656137"/>
            <a:ext cx="3323074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将文物借展、修复、出入库等核心业务流程线上化、标准化，有效减少人为错误，确保文物安全流转和过程可追溯。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38" name="Rectangle 38"/>
          <p:cNvSpPr/>
          <p:nvPr>
            <p:custDataLst>
              <p:tags r:id="rId24"/>
            </p:custDataLst>
          </p:nvPr>
        </p:nvSpPr>
        <p:spPr>
          <a:xfrm>
            <a:off x="7137565" y="2374106"/>
            <a:ext cx="1766887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+mn-ea"/>
                <a:sym typeface="+mn-lt"/>
              </a:rPr>
              <a:t>规范流程</a:t>
            </a:r>
            <a:endParaRPr lang="zh-CN" altLang="en-US" sz="1400" b="1" dirty="0">
              <a:cs typeface="+mn-ea"/>
              <a:sym typeface="+mn-lt"/>
            </a:endParaRPr>
          </a:p>
        </p:txBody>
      </p:sp>
      <p:sp>
        <p:nvSpPr>
          <p:cNvPr id="139" name="Rectangle 38"/>
          <p:cNvSpPr/>
          <p:nvPr>
            <p:custDataLst>
              <p:tags r:id="rId25"/>
            </p:custDataLst>
          </p:nvPr>
        </p:nvSpPr>
        <p:spPr>
          <a:xfrm>
            <a:off x="2439388" y="3847536"/>
            <a:ext cx="1766887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+mn-ea"/>
                <a:sym typeface="+mn-lt"/>
              </a:rPr>
              <a:t>文化传承</a:t>
            </a:r>
            <a:endParaRPr lang="zh-CN" altLang="en-US" sz="1400" b="1" dirty="0">
              <a:cs typeface="+mn-ea"/>
              <a:sym typeface="+mn-lt"/>
            </a:endParaRPr>
          </a:p>
        </p:txBody>
      </p:sp>
      <p:sp>
        <p:nvSpPr>
          <p:cNvPr id="140" name="Rectangle 38"/>
          <p:cNvSpPr/>
          <p:nvPr>
            <p:custDataLst>
              <p:tags r:id="rId26"/>
            </p:custDataLst>
          </p:nvPr>
        </p:nvSpPr>
        <p:spPr>
          <a:xfrm>
            <a:off x="7159412" y="3873203"/>
            <a:ext cx="1766887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+mn-ea"/>
                <a:sym typeface="+mn-lt"/>
              </a:rPr>
              <a:t>数据沉淀</a:t>
            </a:r>
            <a:endParaRPr lang="zh-CN" altLang="en-US" sz="1400" b="1" dirty="0"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3217" y="1265108"/>
            <a:ext cx="766480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博物馆数字化转型的重要意义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53947" y="-249029"/>
            <a:ext cx="12550140" cy="7223759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3937455" y="2265015"/>
            <a:ext cx="4110326" cy="2215991"/>
            <a:chOff x="4444777" y="3648334"/>
            <a:chExt cx="4110326" cy="2215991"/>
          </a:xfrm>
        </p:grpSpPr>
        <p:sp>
          <p:nvSpPr>
            <p:cNvPr id="33" name="文本框 32"/>
            <p:cNvSpPr txBox="1"/>
            <p:nvPr/>
          </p:nvSpPr>
          <p:spPr>
            <a:xfrm>
              <a:off x="4937082" y="4904032"/>
              <a:ext cx="36180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61B5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系统设计</a:t>
              </a:r>
              <a:endPara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444777" y="3648334"/>
              <a:ext cx="1295400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800" dirty="0">
                  <a:solidFill>
                    <a:srgbClr val="5DB6C3"/>
                  </a:solidFill>
                </a:rPr>
                <a:t>P</a:t>
              </a:r>
              <a:endParaRPr lang="zh-CN" altLang="en-US" sz="13800" dirty="0">
                <a:solidFill>
                  <a:srgbClr val="5DB6C3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541899" y="4511040"/>
              <a:ext cx="1332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5DB6C3"/>
                  </a:solidFill>
                </a:rPr>
                <a:t>art 02</a:t>
              </a:r>
              <a:endParaRPr lang="zh-CN" altLang="en-US" sz="2000" b="1" dirty="0">
                <a:solidFill>
                  <a:srgbClr val="5DB6C3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594258" y="2734342"/>
            <a:ext cx="1468169" cy="1277337"/>
            <a:chOff x="7594258" y="2734342"/>
            <a:chExt cx="1468169" cy="1277337"/>
          </a:xfrm>
        </p:grpSpPr>
        <p:grpSp>
          <p:nvGrpSpPr>
            <p:cNvPr id="30" name="组合 29"/>
            <p:cNvGrpSpPr/>
            <p:nvPr/>
          </p:nvGrpSpPr>
          <p:grpSpPr>
            <a:xfrm>
              <a:off x="7594258" y="2734342"/>
              <a:ext cx="1468169" cy="1277337"/>
              <a:chOff x="3798124" y="1016405"/>
              <a:chExt cx="4588132" cy="3991769"/>
            </a:xfrm>
          </p:grpSpPr>
          <p:sp>
            <p:nvSpPr>
              <p:cNvPr id="18" name="Freeform 9"/>
              <p:cNvSpPr/>
              <p:nvPr/>
            </p:nvSpPr>
            <p:spPr bwMode="auto">
              <a:xfrm>
                <a:off x="3801081" y="1026752"/>
                <a:ext cx="4582220" cy="3970271"/>
              </a:xfrm>
              <a:custGeom>
                <a:avLst/>
                <a:gdLst>
                  <a:gd name="T0" fmla="*/ 2326 w 3100"/>
                  <a:gd name="T1" fmla="*/ 0 h 2686"/>
                  <a:gd name="T2" fmla="*/ 3100 w 3100"/>
                  <a:gd name="T3" fmla="*/ 1344 h 2686"/>
                  <a:gd name="T4" fmla="*/ 2326 w 3100"/>
                  <a:gd name="T5" fmla="*/ 2686 h 2686"/>
                  <a:gd name="T6" fmla="*/ 774 w 3100"/>
                  <a:gd name="T7" fmla="*/ 2686 h 2686"/>
                  <a:gd name="T8" fmla="*/ 0 w 3100"/>
                  <a:gd name="T9" fmla="*/ 1344 h 2686"/>
                  <a:gd name="T10" fmla="*/ 774 w 3100"/>
                  <a:gd name="T11" fmla="*/ 0 h 2686"/>
                  <a:gd name="T12" fmla="*/ 2326 w 3100"/>
                  <a:gd name="T13" fmla="*/ 0 h 2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00" h="2686">
                    <a:moveTo>
                      <a:pt x="2326" y="0"/>
                    </a:moveTo>
                    <a:lnTo>
                      <a:pt x="3100" y="1344"/>
                    </a:lnTo>
                    <a:lnTo>
                      <a:pt x="2326" y="2686"/>
                    </a:lnTo>
                    <a:lnTo>
                      <a:pt x="774" y="2686"/>
                    </a:lnTo>
                    <a:lnTo>
                      <a:pt x="0" y="1344"/>
                    </a:lnTo>
                    <a:lnTo>
                      <a:pt x="774" y="0"/>
                    </a:lnTo>
                    <a:lnTo>
                      <a:pt x="2326" y="0"/>
                    </a:lnTo>
                    <a:close/>
                  </a:path>
                </a:pathLst>
              </a:custGeom>
              <a:solidFill>
                <a:srgbClr val="5DB6C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345"/>
              <p:cNvSpPr/>
              <p:nvPr/>
            </p:nvSpPr>
            <p:spPr bwMode="auto">
              <a:xfrm>
                <a:off x="4946668" y="1029745"/>
                <a:ext cx="3439588" cy="1986823"/>
              </a:xfrm>
              <a:custGeom>
                <a:avLst/>
                <a:gdLst>
                  <a:gd name="T0" fmla="*/ 2273 w 3407"/>
                  <a:gd name="T1" fmla="*/ 0 h 1968"/>
                  <a:gd name="T2" fmla="*/ 0 w 3407"/>
                  <a:gd name="T3" fmla="*/ 0 h 1968"/>
                  <a:gd name="T4" fmla="*/ 3407 w 3407"/>
                  <a:gd name="T5" fmla="*/ 1968 h 1968"/>
                  <a:gd name="T6" fmla="*/ 2273 w 3407"/>
                  <a:gd name="T7" fmla="*/ 0 h 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8">
                    <a:moveTo>
                      <a:pt x="2273" y="0"/>
                    </a:moveTo>
                    <a:lnTo>
                      <a:pt x="0" y="0"/>
                    </a:lnTo>
                    <a:lnTo>
                      <a:pt x="3407" y="1968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22"/>
              <p:cNvSpPr/>
              <p:nvPr/>
            </p:nvSpPr>
            <p:spPr bwMode="auto">
              <a:xfrm>
                <a:off x="3800811" y="1028230"/>
                <a:ext cx="3439588" cy="1986823"/>
              </a:xfrm>
              <a:custGeom>
                <a:avLst/>
                <a:gdLst>
                  <a:gd name="T0" fmla="*/ 3407 w 3407"/>
                  <a:gd name="T1" fmla="*/ 0 h 1968"/>
                  <a:gd name="T2" fmla="*/ 1134 w 3407"/>
                  <a:gd name="T3" fmla="*/ 0 h 1968"/>
                  <a:gd name="T4" fmla="*/ 0 w 3407"/>
                  <a:gd name="T5" fmla="*/ 1968 h 1968"/>
                  <a:gd name="T6" fmla="*/ 3407 w 3407"/>
                  <a:gd name="T7" fmla="*/ 0 h 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8">
                    <a:moveTo>
                      <a:pt x="3407" y="0"/>
                    </a:moveTo>
                    <a:lnTo>
                      <a:pt x="1134" y="0"/>
                    </a:lnTo>
                    <a:lnTo>
                      <a:pt x="0" y="1968"/>
                    </a:lnTo>
                    <a:lnTo>
                      <a:pt x="3407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25"/>
              <p:cNvSpPr/>
              <p:nvPr/>
            </p:nvSpPr>
            <p:spPr bwMode="auto">
              <a:xfrm>
                <a:off x="3800811" y="3024379"/>
                <a:ext cx="3439588" cy="1983795"/>
              </a:xfrm>
              <a:custGeom>
                <a:avLst/>
                <a:gdLst>
                  <a:gd name="T0" fmla="*/ 0 w 3407"/>
                  <a:gd name="T1" fmla="*/ 0 h 1965"/>
                  <a:gd name="T2" fmla="*/ 1134 w 3407"/>
                  <a:gd name="T3" fmla="*/ 1965 h 1965"/>
                  <a:gd name="T4" fmla="*/ 3407 w 3407"/>
                  <a:gd name="T5" fmla="*/ 1965 h 1965"/>
                  <a:gd name="T6" fmla="*/ 0 w 3407"/>
                  <a:gd name="T7" fmla="*/ 0 h 19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5">
                    <a:moveTo>
                      <a:pt x="0" y="0"/>
                    </a:moveTo>
                    <a:lnTo>
                      <a:pt x="1134" y="1965"/>
                    </a:lnTo>
                    <a:lnTo>
                      <a:pt x="3407" y="19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33"/>
              <p:cNvSpPr/>
              <p:nvPr/>
            </p:nvSpPr>
            <p:spPr bwMode="auto">
              <a:xfrm>
                <a:off x="4946668" y="3016568"/>
                <a:ext cx="3439588" cy="1983795"/>
              </a:xfrm>
              <a:custGeom>
                <a:avLst/>
                <a:gdLst>
                  <a:gd name="T0" fmla="*/ 3407 w 3407"/>
                  <a:gd name="T1" fmla="*/ 0 h 1965"/>
                  <a:gd name="T2" fmla="*/ 0 w 3407"/>
                  <a:gd name="T3" fmla="*/ 1965 h 1965"/>
                  <a:gd name="T4" fmla="*/ 2273 w 3407"/>
                  <a:gd name="T5" fmla="*/ 1965 h 1965"/>
                  <a:gd name="T6" fmla="*/ 3407 w 3407"/>
                  <a:gd name="T7" fmla="*/ 0 h 19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5">
                    <a:moveTo>
                      <a:pt x="3407" y="0"/>
                    </a:moveTo>
                    <a:lnTo>
                      <a:pt x="0" y="1965"/>
                    </a:lnTo>
                    <a:lnTo>
                      <a:pt x="2273" y="1965"/>
                    </a:lnTo>
                    <a:lnTo>
                      <a:pt x="3407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31"/>
              <p:cNvSpPr/>
              <p:nvPr/>
            </p:nvSpPr>
            <p:spPr bwMode="auto">
              <a:xfrm>
                <a:off x="3798124" y="1016405"/>
                <a:ext cx="4524573" cy="3915581"/>
              </a:xfrm>
              <a:custGeom>
                <a:avLst/>
                <a:gdLst>
                  <a:gd name="T0" fmla="*/ 2297 w 3061"/>
                  <a:gd name="T1" fmla="*/ 0 h 2649"/>
                  <a:gd name="T2" fmla="*/ 3061 w 3061"/>
                  <a:gd name="T3" fmla="*/ 1325 h 2649"/>
                  <a:gd name="T4" fmla="*/ 2297 w 3061"/>
                  <a:gd name="T5" fmla="*/ 2649 h 2649"/>
                  <a:gd name="T6" fmla="*/ 764 w 3061"/>
                  <a:gd name="T7" fmla="*/ 2649 h 2649"/>
                  <a:gd name="T8" fmla="*/ 0 w 3061"/>
                  <a:gd name="T9" fmla="*/ 1325 h 2649"/>
                  <a:gd name="T10" fmla="*/ 764 w 3061"/>
                  <a:gd name="T11" fmla="*/ 0 h 2649"/>
                  <a:gd name="T12" fmla="*/ 2297 w 3061"/>
                  <a:gd name="T13" fmla="*/ 0 h 26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61" h="2649">
                    <a:moveTo>
                      <a:pt x="2297" y="0"/>
                    </a:moveTo>
                    <a:lnTo>
                      <a:pt x="3061" y="1325"/>
                    </a:lnTo>
                    <a:lnTo>
                      <a:pt x="2297" y="2649"/>
                    </a:lnTo>
                    <a:lnTo>
                      <a:pt x="764" y="2649"/>
                    </a:lnTo>
                    <a:lnTo>
                      <a:pt x="0" y="1325"/>
                    </a:lnTo>
                    <a:lnTo>
                      <a:pt x="764" y="0"/>
                    </a:lnTo>
                    <a:lnTo>
                      <a:pt x="229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33"/>
              <p:cNvSpPr/>
              <p:nvPr/>
            </p:nvSpPr>
            <p:spPr bwMode="auto">
              <a:xfrm>
                <a:off x="6059671" y="1016405"/>
                <a:ext cx="2263026" cy="1958530"/>
              </a:xfrm>
              <a:custGeom>
                <a:avLst/>
                <a:gdLst>
                  <a:gd name="T0" fmla="*/ 767 w 1531"/>
                  <a:gd name="T1" fmla="*/ 0 h 1325"/>
                  <a:gd name="T2" fmla="*/ 767 w 1531"/>
                  <a:gd name="T3" fmla="*/ 0 h 1325"/>
                  <a:gd name="T4" fmla="*/ 0 w 1531"/>
                  <a:gd name="T5" fmla="*/ 442 h 1325"/>
                  <a:gd name="T6" fmla="*/ 1531 w 1531"/>
                  <a:gd name="T7" fmla="*/ 1325 h 1325"/>
                  <a:gd name="T8" fmla="*/ 767 w 1531"/>
                  <a:gd name="T9" fmla="*/ 0 h 1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1" h="1325">
                    <a:moveTo>
                      <a:pt x="767" y="0"/>
                    </a:moveTo>
                    <a:lnTo>
                      <a:pt x="767" y="0"/>
                    </a:lnTo>
                    <a:lnTo>
                      <a:pt x="0" y="442"/>
                    </a:lnTo>
                    <a:lnTo>
                      <a:pt x="1531" y="1325"/>
                    </a:lnTo>
                    <a:lnTo>
                      <a:pt x="7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35"/>
              <p:cNvSpPr/>
              <p:nvPr/>
            </p:nvSpPr>
            <p:spPr bwMode="auto">
              <a:xfrm>
                <a:off x="3798124" y="2974934"/>
                <a:ext cx="3395277" cy="1957051"/>
              </a:xfrm>
              <a:custGeom>
                <a:avLst/>
                <a:gdLst>
                  <a:gd name="T0" fmla="*/ 0 w 2297"/>
                  <a:gd name="T1" fmla="*/ 0 h 1324"/>
                  <a:gd name="T2" fmla="*/ 764 w 2297"/>
                  <a:gd name="T3" fmla="*/ 1324 h 1324"/>
                  <a:gd name="T4" fmla="*/ 2297 w 2297"/>
                  <a:gd name="T5" fmla="*/ 1324 h 1324"/>
                  <a:gd name="T6" fmla="*/ 764 w 2297"/>
                  <a:gd name="T7" fmla="*/ 1324 h 1324"/>
                  <a:gd name="T8" fmla="*/ 1530 w 2297"/>
                  <a:gd name="T9" fmla="*/ 882 h 1324"/>
                  <a:gd name="T10" fmla="*/ 0 w 2297"/>
                  <a:gd name="T11" fmla="*/ 0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97" h="1324">
                    <a:moveTo>
                      <a:pt x="0" y="0"/>
                    </a:moveTo>
                    <a:lnTo>
                      <a:pt x="764" y="1324"/>
                    </a:lnTo>
                    <a:lnTo>
                      <a:pt x="2297" y="1324"/>
                    </a:lnTo>
                    <a:lnTo>
                      <a:pt x="764" y="1324"/>
                    </a:lnTo>
                    <a:lnTo>
                      <a:pt x="1530" y="88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137"/>
              <p:cNvSpPr/>
              <p:nvPr/>
            </p:nvSpPr>
            <p:spPr bwMode="auto">
              <a:xfrm>
                <a:off x="6059671" y="2974934"/>
                <a:ext cx="2263026" cy="1957051"/>
              </a:xfrm>
              <a:custGeom>
                <a:avLst/>
                <a:gdLst>
                  <a:gd name="T0" fmla="*/ 1531 w 1531"/>
                  <a:gd name="T1" fmla="*/ 0 h 1324"/>
                  <a:gd name="T2" fmla="*/ 0 w 1531"/>
                  <a:gd name="T3" fmla="*/ 882 h 1324"/>
                  <a:gd name="T4" fmla="*/ 767 w 1531"/>
                  <a:gd name="T5" fmla="*/ 1324 h 1324"/>
                  <a:gd name="T6" fmla="*/ 1531 w 1531"/>
                  <a:gd name="T7" fmla="*/ 0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31" h="1324">
                    <a:moveTo>
                      <a:pt x="1531" y="0"/>
                    </a:moveTo>
                    <a:lnTo>
                      <a:pt x="0" y="882"/>
                    </a:lnTo>
                    <a:lnTo>
                      <a:pt x="767" y="1324"/>
                    </a:lnTo>
                    <a:lnTo>
                      <a:pt x="15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139"/>
              <p:cNvSpPr/>
              <p:nvPr/>
            </p:nvSpPr>
            <p:spPr bwMode="auto">
              <a:xfrm>
                <a:off x="4927420" y="4278650"/>
                <a:ext cx="2265982" cy="653336"/>
              </a:xfrm>
              <a:custGeom>
                <a:avLst/>
                <a:gdLst>
                  <a:gd name="T0" fmla="*/ 766 w 1533"/>
                  <a:gd name="T1" fmla="*/ 0 h 442"/>
                  <a:gd name="T2" fmla="*/ 0 w 1533"/>
                  <a:gd name="T3" fmla="*/ 442 h 442"/>
                  <a:gd name="T4" fmla="*/ 1533 w 1533"/>
                  <a:gd name="T5" fmla="*/ 442 h 442"/>
                  <a:gd name="T6" fmla="*/ 766 w 1533"/>
                  <a:gd name="T7" fmla="*/ 0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33" h="442">
                    <a:moveTo>
                      <a:pt x="766" y="0"/>
                    </a:moveTo>
                    <a:lnTo>
                      <a:pt x="0" y="442"/>
                    </a:lnTo>
                    <a:lnTo>
                      <a:pt x="1533" y="442"/>
                    </a:lnTo>
                    <a:lnTo>
                      <a:pt x="7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141"/>
              <p:cNvSpPr/>
              <p:nvPr/>
            </p:nvSpPr>
            <p:spPr bwMode="auto">
              <a:xfrm>
                <a:off x="3798124" y="1016405"/>
                <a:ext cx="2261547" cy="1958530"/>
              </a:xfrm>
              <a:custGeom>
                <a:avLst/>
                <a:gdLst>
                  <a:gd name="T0" fmla="*/ 764 w 1530"/>
                  <a:gd name="T1" fmla="*/ 0 h 1325"/>
                  <a:gd name="T2" fmla="*/ 764 w 1530"/>
                  <a:gd name="T3" fmla="*/ 0 h 1325"/>
                  <a:gd name="T4" fmla="*/ 0 w 1530"/>
                  <a:gd name="T5" fmla="*/ 1325 h 1325"/>
                  <a:gd name="T6" fmla="*/ 1530 w 1530"/>
                  <a:gd name="T7" fmla="*/ 442 h 1325"/>
                  <a:gd name="T8" fmla="*/ 764 w 1530"/>
                  <a:gd name="T9" fmla="*/ 0 h 1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0" h="1325">
                    <a:moveTo>
                      <a:pt x="764" y="0"/>
                    </a:moveTo>
                    <a:lnTo>
                      <a:pt x="764" y="0"/>
                    </a:lnTo>
                    <a:lnTo>
                      <a:pt x="0" y="1325"/>
                    </a:lnTo>
                    <a:lnTo>
                      <a:pt x="1530" y="442"/>
                    </a:lnTo>
                    <a:lnTo>
                      <a:pt x="76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43"/>
              <p:cNvSpPr/>
              <p:nvPr/>
            </p:nvSpPr>
            <p:spPr bwMode="auto">
              <a:xfrm>
                <a:off x="4927420" y="1016405"/>
                <a:ext cx="2265982" cy="653336"/>
              </a:xfrm>
              <a:custGeom>
                <a:avLst/>
                <a:gdLst>
                  <a:gd name="T0" fmla="*/ 1533 w 1533"/>
                  <a:gd name="T1" fmla="*/ 0 h 442"/>
                  <a:gd name="T2" fmla="*/ 0 w 1533"/>
                  <a:gd name="T3" fmla="*/ 0 h 442"/>
                  <a:gd name="T4" fmla="*/ 766 w 1533"/>
                  <a:gd name="T5" fmla="*/ 442 h 442"/>
                  <a:gd name="T6" fmla="*/ 1533 w 1533"/>
                  <a:gd name="T7" fmla="*/ 0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33" h="442">
                    <a:moveTo>
                      <a:pt x="1533" y="0"/>
                    </a:moveTo>
                    <a:lnTo>
                      <a:pt x="0" y="0"/>
                    </a:lnTo>
                    <a:lnTo>
                      <a:pt x="766" y="442"/>
                    </a:lnTo>
                    <a:lnTo>
                      <a:pt x="153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4" name="Freeform 141"/>
            <p:cNvSpPr>
              <a:spLocks noChangeArrowheads="1"/>
            </p:cNvSpPr>
            <p:nvPr/>
          </p:nvSpPr>
          <p:spPr bwMode="auto">
            <a:xfrm>
              <a:off x="8066838" y="3106877"/>
              <a:ext cx="523009" cy="532266"/>
            </a:xfrm>
            <a:custGeom>
              <a:avLst/>
              <a:gdLst>
                <a:gd name="T0" fmla="*/ 479 w 497"/>
                <a:gd name="T1" fmla="*/ 186 h 506"/>
                <a:gd name="T2" fmla="*/ 479 w 497"/>
                <a:gd name="T3" fmla="*/ 186 h 506"/>
                <a:gd name="T4" fmla="*/ 292 w 497"/>
                <a:gd name="T5" fmla="*/ 142 h 506"/>
                <a:gd name="T6" fmla="*/ 266 w 497"/>
                <a:gd name="T7" fmla="*/ 17 h 506"/>
                <a:gd name="T8" fmla="*/ 239 w 497"/>
                <a:gd name="T9" fmla="*/ 0 h 506"/>
                <a:gd name="T10" fmla="*/ 17 w 497"/>
                <a:gd name="T11" fmla="*/ 61 h 506"/>
                <a:gd name="T12" fmla="*/ 0 w 497"/>
                <a:gd name="T13" fmla="*/ 89 h 506"/>
                <a:gd name="T14" fmla="*/ 79 w 497"/>
                <a:gd name="T15" fmla="*/ 390 h 506"/>
                <a:gd name="T16" fmla="*/ 107 w 497"/>
                <a:gd name="T17" fmla="*/ 399 h 506"/>
                <a:gd name="T18" fmla="*/ 195 w 497"/>
                <a:gd name="T19" fmla="*/ 372 h 506"/>
                <a:gd name="T20" fmla="*/ 177 w 497"/>
                <a:gd name="T21" fmla="*/ 425 h 506"/>
                <a:gd name="T22" fmla="*/ 195 w 497"/>
                <a:gd name="T23" fmla="*/ 443 h 506"/>
                <a:gd name="T24" fmla="*/ 398 w 497"/>
                <a:gd name="T25" fmla="*/ 496 h 506"/>
                <a:gd name="T26" fmla="*/ 426 w 497"/>
                <a:gd name="T27" fmla="*/ 487 h 506"/>
                <a:gd name="T28" fmla="*/ 496 w 497"/>
                <a:gd name="T29" fmla="*/ 212 h 506"/>
                <a:gd name="T30" fmla="*/ 479 w 497"/>
                <a:gd name="T31" fmla="*/ 186 h 506"/>
                <a:gd name="T32" fmla="*/ 35 w 497"/>
                <a:gd name="T33" fmla="*/ 97 h 506"/>
                <a:gd name="T34" fmla="*/ 35 w 497"/>
                <a:gd name="T35" fmla="*/ 97 h 506"/>
                <a:gd name="T36" fmla="*/ 230 w 497"/>
                <a:gd name="T37" fmla="*/ 44 h 506"/>
                <a:gd name="T38" fmla="*/ 310 w 497"/>
                <a:gd name="T39" fmla="*/ 310 h 506"/>
                <a:gd name="T40" fmla="*/ 116 w 497"/>
                <a:gd name="T41" fmla="*/ 364 h 506"/>
                <a:gd name="T42" fmla="*/ 35 w 497"/>
                <a:gd name="T43" fmla="*/ 97 h 506"/>
                <a:gd name="T44" fmla="*/ 389 w 497"/>
                <a:gd name="T45" fmla="*/ 461 h 506"/>
                <a:gd name="T46" fmla="*/ 389 w 497"/>
                <a:gd name="T47" fmla="*/ 461 h 506"/>
                <a:gd name="T48" fmla="*/ 222 w 497"/>
                <a:gd name="T49" fmla="*/ 417 h 506"/>
                <a:gd name="T50" fmla="*/ 230 w 497"/>
                <a:gd name="T51" fmla="*/ 364 h 506"/>
                <a:gd name="T52" fmla="*/ 328 w 497"/>
                <a:gd name="T53" fmla="*/ 336 h 506"/>
                <a:gd name="T54" fmla="*/ 345 w 497"/>
                <a:gd name="T55" fmla="*/ 319 h 506"/>
                <a:gd name="T56" fmla="*/ 310 w 497"/>
                <a:gd name="T57" fmla="*/ 177 h 506"/>
                <a:gd name="T58" fmla="*/ 451 w 497"/>
                <a:gd name="T59" fmla="*/ 212 h 506"/>
                <a:gd name="T60" fmla="*/ 389 w 497"/>
                <a:gd name="T61" fmla="*/ 46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97" h="506">
                  <a:moveTo>
                    <a:pt x="479" y="186"/>
                  </a:moveTo>
                  <a:lnTo>
                    <a:pt x="479" y="186"/>
                  </a:lnTo>
                  <a:cubicBezTo>
                    <a:pt x="292" y="142"/>
                    <a:pt x="292" y="142"/>
                    <a:pt x="292" y="142"/>
                  </a:cubicBezTo>
                  <a:cubicBezTo>
                    <a:pt x="266" y="17"/>
                    <a:pt x="266" y="17"/>
                    <a:pt x="266" y="17"/>
                  </a:cubicBezTo>
                  <a:cubicBezTo>
                    <a:pt x="257" y="8"/>
                    <a:pt x="248" y="0"/>
                    <a:pt x="239" y="0"/>
                  </a:cubicBezTo>
                  <a:cubicBezTo>
                    <a:pt x="17" y="61"/>
                    <a:pt x="17" y="61"/>
                    <a:pt x="17" y="61"/>
                  </a:cubicBezTo>
                  <a:cubicBezTo>
                    <a:pt x="0" y="71"/>
                    <a:pt x="0" y="80"/>
                    <a:pt x="0" y="89"/>
                  </a:cubicBezTo>
                  <a:cubicBezTo>
                    <a:pt x="79" y="390"/>
                    <a:pt x="79" y="390"/>
                    <a:pt x="79" y="390"/>
                  </a:cubicBezTo>
                  <a:cubicBezTo>
                    <a:pt x="79" y="399"/>
                    <a:pt x="97" y="399"/>
                    <a:pt x="107" y="399"/>
                  </a:cubicBezTo>
                  <a:cubicBezTo>
                    <a:pt x="195" y="372"/>
                    <a:pt x="195" y="372"/>
                    <a:pt x="195" y="372"/>
                  </a:cubicBezTo>
                  <a:cubicBezTo>
                    <a:pt x="177" y="425"/>
                    <a:pt x="177" y="425"/>
                    <a:pt x="177" y="425"/>
                  </a:cubicBezTo>
                  <a:cubicBezTo>
                    <a:pt x="177" y="434"/>
                    <a:pt x="186" y="443"/>
                    <a:pt x="195" y="443"/>
                  </a:cubicBezTo>
                  <a:cubicBezTo>
                    <a:pt x="398" y="496"/>
                    <a:pt x="398" y="496"/>
                    <a:pt x="398" y="496"/>
                  </a:cubicBezTo>
                  <a:cubicBezTo>
                    <a:pt x="407" y="505"/>
                    <a:pt x="416" y="496"/>
                    <a:pt x="426" y="487"/>
                  </a:cubicBezTo>
                  <a:cubicBezTo>
                    <a:pt x="496" y="212"/>
                    <a:pt x="496" y="212"/>
                    <a:pt x="496" y="212"/>
                  </a:cubicBezTo>
                  <a:cubicBezTo>
                    <a:pt x="496" y="204"/>
                    <a:pt x="488" y="186"/>
                    <a:pt x="479" y="186"/>
                  </a:cubicBezTo>
                  <a:close/>
                  <a:moveTo>
                    <a:pt x="35" y="97"/>
                  </a:moveTo>
                  <a:lnTo>
                    <a:pt x="35" y="97"/>
                  </a:lnTo>
                  <a:cubicBezTo>
                    <a:pt x="230" y="44"/>
                    <a:pt x="230" y="44"/>
                    <a:pt x="230" y="44"/>
                  </a:cubicBezTo>
                  <a:cubicBezTo>
                    <a:pt x="310" y="310"/>
                    <a:pt x="310" y="310"/>
                    <a:pt x="310" y="310"/>
                  </a:cubicBezTo>
                  <a:cubicBezTo>
                    <a:pt x="116" y="364"/>
                    <a:pt x="116" y="364"/>
                    <a:pt x="116" y="364"/>
                  </a:cubicBezTo>
                  <a:lnTo>
                    <a:pt x="35" y="97"/>
                  </a:lnTo>
                  <a:close/>
                  <a:moveTo>
                    <a:pt x="389" y="461"/>
                  </a:moveTo>
                  <a:lnTo>
                    <a:pt x="389" y="461"/>
                  </a:lnTo>
                  <a:cubicBezTo>
                    <a:pt x="222" y="417"/>
                    <a:pt x="222" y="417"/>
                    <a:pt x="222" y="417"/>
                  </a:cubicBezTo>
                  <a:cubicBezTo>
                    <a:pt x="230" y="364"/>
                    <a:pt x="230" y="364"/>
                    <a:pt x="230" y="364"/>
                  </a:cubicBezTo>
                  <a:cubicBezTo>
                    <a:pt x="328" y="336"/>
                    <a:pt x="328" y="336"/>
                    <a:pt x="328" y="336"/>
                  </a:cubicBezTo>
                  <a:cubicBezTo>
                    <a:pt x="336" y="336"/>
                    <a:pt x="345" y="327"/>
                    <a:pt x="345" y="319"/>
                  </a:cubicBezTo>
                  <a:cubicBezTo>
                    <a:pt x="310" y="177"/>
                    <a:pt x="310" y="177"/>
                    <a:pt x="310" y="177"/>
                  </a:cubicBezTo>
                  <a:cubicBezTo>
                    <a:pt x="451" y="212"/>
                    <a:pt x="451" y="212"/>
                    <a:pt x="451" y="212"/>
                  </a:cubicBezTo>
                  <a:lnTo>
                    <a:pt x="389" y="461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534670"/>
              <a:endParaRPr lang="en-US" sz="2105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53947" y="-249029"/>
            <a:ext cx="12550140" cy="722375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314848" y="219906"/>
            <a:ext cx="1569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  <a:endParaRPr lang="zh-CN" altLang="en-US" sz="2400" b="1" spc="300" dirty="0">
              <a:solidFill>
                <a:srgbClr val="61B5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rcRect t="50000"/>
          <a:stretch>
            <a:fillRect/>
          </a:stretch>
        </p:blipFill>
        <p:spPr>
          <a:xfrm>
            <a:off x="5552575" y="-1"/>
            <a:ext cx="1086850" cy="157723"/>
          </a:xfrm>
          <a:custGeom>
            <a:avLst/>
            <a:gdLst>
              <a:gd name="connsiteX0" fmla="*/ 0 w 4121253"/>
              <a:gd name="connsiteY0" fmla="*/ 0 h 1792380"/>
              <a:gd name="connsiteX1" fmla="*/ 4121253 w 4121253"/>
              <a:gd name="connsiteY1" fmla="*/ 0 h 1792380"/>
              <a:gd name="connsiteX2" fmla="*/ 4121253 w 4121253"/>
              <a:gd name="connsiteY2" fmla="*/ 1792380 h 1792380"/>
              <a:gd name="connsiteX3" fmla="*/ 0 w 4121253"/>
              <a:gd name="connsiteY3" fmla="*/ 1792380 h 179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253" h="1792380">
                <a:moveTo>
                  <a:pt x="0" y="0"/>
                </a:moveTo>
                <a:lnTo>
                  <a:pt x="4121253" y="0"/>
                </a:lnTo>
                <a:lnTo>
                  <a:pt x="4121253" y="1792380"/>
                </a:lnTo>
                <a:lnTo>
                  <a:pt x="0" y="1792380"/>
                </a:lnTo>
                <a:close/>
              </a:path>
            </a:pathLst>
          </a:custGeom>
        </p:spPr>
      </p:pic>
      <p:sp>
        <p:nvSpPr>
          <p:cNvPr id="5" name="文本框 4"/>
          <p:cNvSpPr txBox="1"/>
          <p:nvPr/>
        </p:nvSpPr>
        <p:spPr>
          <a:xfrm>
            <a:off x="1473309" y="1380877"/>
            <a:ext cx="9253002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系统简介</a:t>
            </a:r>
            <a:endParaRPr lang="en-US" altLang="zh-CN" b="1" dirty="0"/>
          </a:p>
          <a:p>
            <a:pPr algn="ctr"/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sz="1400" dirty="0"/>
              <a:t>         </a:t>
            </a:r>
            <a:r>
              <a:rPr lang="zh-CN" altLang="en-US" dirty="0"/>
              <a:t>本系统是一套完整的博物馆文物数字化管理平台。在技术架构上，系统采用前后端分离的现代化开发模式，前端基于</a:t>
            </a:r>
            <a:r>
              <a:rPr lang="en-US" altLang="zh-CN" dirty="0"/>
              <a:t> Vue 3 </a:t>
            </a:r>
            <a:r>
              <a:rPr lang="zh-CN" altLang="en-US" dirty="0"/>
              <a:t>构建高效响应的用户界面，后端基于</a:t>
            </a:r>
            <a:r>
              <a:rPr lang="en-US" altLang="zh-CN" dirty="0"/>
              <a:t> Spring Boot </a:t>
            </a:r>
            <a:r>
              <a:rPr lang="zh-CN" altLang="en-US" dirty="0"/>
              <a:t>框架提供稳定的</a:t>
            </a:r>
            <a:r>
              <a:rPr lang="en-US" altLang="zh-CN" dirty="0"/>
              <a:t> API </a:t>
            </a:r>
            <a:r>
              <a:rPr lang="zh-CN" altLang="en-US" dirty="0"/>
              <a:t>服务。为了保障系统的高并发能力与响应速度，数据存储采用了</a:t>
            </a:r>
            <a:r>
              <a:rPr lang="en-US" altLang="zh-CN" dirty="0"/>
              <a:t> MySQL (</a:t>
            </a:r>
            <a:r>
              <a:rPr lang="zh-CN" altLang="en-US" dirty="0"/>
              <a:t>业务数据持久化</a:t>
            </a:r>
            <a:r>
              <a:rPr lang="en-US" altLang="zh-CN" dirty="0"/>
              <a:t>) </a:t>
            </a:r>
            <a:r>
              <a:rPr lang="zh-CN" altLang="en-US" dirty="0"/>
              <a:t>与</a:t>
            </a:r>
            <a:r>
              <a:rPr lang="en-US" altLang="zh-CN" dirty="0"/>
              <a:t> Redis (</a:t>
            </a:r>
            <a:r>
              <a:rPr lang="zh-CN" altLang="en-US" dirty="0"/>
              <a:t>高频数据缓存</a:t>
            </a:r>
            <a:r>
              <a:rPr lang="en-US" altLang="zh-CN" dirty="0"/>
              <a:t>) </a:t>
            </a:r>
            <a:r>
              <a:rPr lang="zh-CN" altLang="en-US" dirty="0"/>
              <a:t>相结合的方案。在安全性方面，系统全面集成了</a:t>
            </a:r>
            <a:r>
              <a:rPr lang="en-US" altLang="zh-CN" dirty="0"/>
              <a:t> Spring Security </a:t>
            </a:r>
            <a:r>
              <a:rPr lang="zh-CN" altLang="en-US" dirty="0"/>
              <a:t>并采用</a:t>
            </a:r>
            <a:r>
              <a:rPr lang="en-US" altLang="zh-CN" dirty="0"/>
              <a:t> JWT </a:t>
            </a:r>
            <a:r>
              <a:rPr lang="zh-CN" altLang="en-US" dirty="0"/>
              <a:t>进行无状态的身份认证与权限控制。代码结构严格遵循</a:t>
            </a:r>
            <a:r>
              <a:rPr lang="en-US" altLang="zh-CN" dirty="0"/>
              <a:t> Controller</a:t>
            </a:r>
            <a:r>
              <a:rPr lang="zh-CN" altLang="en-US" dirty="0"/>
              <a:t>、</a:t>
            </a:r>
            <a:r>
              <a:rPr lang="en-US" altLang="zh-CN" dirty="0"/>
              <a:t>Service</a:t>
            </a:r>
            <a:r>
              <a:rPr lang="zh-CN" altLang="en-US" dirty="0"/>
              <a:t>、</a:t>
            </a:r>
            <a:r>
              <a:rPr lang="en-US" altLang="zh-CN" dirty="0"/>
              <a:t>Mapper </a:t>
            </a:r>
            <a:r>
              <a:rPr lang="zh-CN" altLang="en-US" dirty="0"/>
              <a:t>的经典三层架构设计，确保了系统的高内聚、低耦合，为后续的功能扩展及微服务改造奠定了坚实的基础。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/>
          <a:srcRect l="651" t="3819" r="2203" b="1245"/>
          <a:stretch>
            <a:fillRect/>
          </a:stretch>
        </p:blipFill>
        <p:spPr>
          <a:xfrm>
            <a:off x="0" y="-1"/>
            <a:ext cx="12192000" cy="6954632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" cstate="print"/>
          <a:srcRect t="50000"/>
          <a:stretch>
            <a:fillRect/>
          </a:stretch>
        </p:blipFill>
        <p:spPr>
          <a:xfrm>
            <a:off x="5552575" y="-1"/>
            <a:ext cx="1086850" cy="157723"/>
          </a:xfrm>
          <a:custGeom>
            <a:avLst/>
            <a:gdLst>
              <a:gd name="connsiteX0" fmla="*/ 0 w 4121253"/>
              <a:gd name="connsiteY0" fmla="*/ 0 h 1792380"/>
              <a:gd name="connsiteX1" fmla="*/ 4121253 w 4121253"/>
              <a:gd name="connsiteY1" fmla="*/ 0 h 1792380"/>
              <a:gd name="connsiteX2" fmla="*/ 4121253 w 4121253"/>
              <a:gd name="connsiteY2" fmla="*/ 1792380 h 1792380"/>
              <a:gd name="connsiteX3" fmla="*/ 0 w 4121253"/>
              <a:gd name="connsiteY3" fmla="*/ 1792380 h 179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253" h="1792380">
                <a:moveTo>
                  <a:pt x="0" y="0"/>
                </a:moveTo>
                <a:lnTo>
                  <a:pt x="4121253" y="0"/>
                </a:lnTo>
                <a:lnTo>
                  <a:pt x="4121253" y="1792380"/>
                </a:lnTo>
                <a:lnTo>
                  <a:pt x="0" y="1792380"/>
                </a:lnTo>
                <a:close/>
              </a:path>
            </a:pathLst>
          </a:custGeom>
        </p:spPr>
      </p:pic>
      <p:sp>
        <p:nvSpPr>
          <p:cNvPr id="75" name="矩形 74"/>
          <p:cNvSpPr/>
          <p:nvPr/>
        </p:nvSpPr>
        <p:spPr>
          <a:xfrm>
            <a:off x="5314848" y="219906"/>
            <a:ext cx="1569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  <a:endParaRPr lang="zh-CN" altLang="en-US" sz="2400" b="1" spc="300" dirty="0">
              <a:solidFill>
                <a:srgbClr val="61B5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8019" y="4464213"/>
            <a:ext cx="54864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业务设计：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         </a:t>
            </a:r>
            <a:r>
              <a:rPr lang="zh-CN" altLang="en-US" sz="1000" dirty="0"/>
              <a:t>基于</a:t>
            </a:r>
            <a:r>
              <a:rPr lang="en-US" altLang="zh-CN" sz="1000" dirty="0"/>
              <a:t>Spring Boot</a:t>
            </a:r>
            <a:r>
              <a:rPr lang="zh-CN" altLang="en-US" sz="1000" dirty="0"/>
              <a:t>和</a:t>
            </a:r>
            <a:r>
              <a:rPr lang="en-US" altLang="zh-CN" sz="1000" dirty="0"/>
              <a:t>Vue 3</a:t>
            </a:r>
            <a:r>
              <a:rPr lang="zh-CN" altLang="en-US" sz="1000" dirty="0"/>
              <a:t>的博物馆文物数字化管理系统实现了文物全生命周期管理，涵盖文物信息管理、借展审批、修复维护、数字化档案等核心业务，将文物数据、业务流程、操作记录统一存储在数据库中，进而提升博物馆内部各部门之间的协同效率，并从底层有效保护文物信息安全。同时完成了系统的多端应用化，即搭建了管理员端、保管员端、审批员端和借展人端四个独立平台相互交互，以验证系统的安全性、可靠性及适配性。系统采用前后端分离架构，提供</a:t>
            </a:r>
            <a:r>
              <a:rPr lang="en-US" altLang="zh-CN" sz="1000" dirty="0"/>
              <a:t>80+</a:t>
            </a:r>
            <a:r>
              <a:rPr lang="zh-CN" altLang="en-US" sz="1000" dirty="0"/>
              <a:t>个</a:t>
            </a:r>
            <a:r>
              <a:rPr lang="en-US" altLang="zh-CN" sz="1000" dirty="0"/>
              <a:t>RESTful API</a:t>
            </a:r>
            <a:r>
              <a:rPr lang="zh-CN" altLang="en-US" sz="1000" dirty="0"/>
              <a:t>接口，可与第三方平台进行对接，方便博物馆和公众使用。系统创新性地集成了</a:t>
            </a:r>
            <a:r>
              <a:rPr lang="en-US" altLang="zh-CN" sz="1000" dirty="0"/>
              <a:t>3D</a:t>
            </a:r>
            <a:r>
              <a:rPr lang="zh-CN" altLang="en-US" sz="1000" dirty="0"/>
              <a:t>文物展示技术、</a:t>
            </a:r>
            <a:r>
              <a:rPr lang="en-US" altLang="zh-CN" sz="1000" dirty="0"/>
              <a:t>AI</a:t>
            </a:r>
            <a:r>
              <a:rPr lang="zh-CN" altLang="en-US" sz="1000" dirty="0"/>
              <a:t>智能查询、实时通知推送等先进功能，支持文物的三维数字化展示和智能检索，为文化遗产的保护、传承和传播提供了完整的数字化解决方案。</a:t>
            </a:r>
            <a:r>
              <a:rPr lang="en-US" altLang="zh-CN" sz="1000" dirty="0"/>
              <a:t>  </a:t>
            </a:r>
            <a:endParaRPr lang="en-US" altLang="zh-CN" sz="1000" dirty="0"/>
          </a:p>
        </p:txBody>
      </p:sp>
      <p:sp>
        <p:nvSpPr>
          <p:cNvPr id="7" name="文本框 6"/>
          <p:cNvSpPr txBox="1"/>
          <p:nvPr/>
        </p:nvSpPr>
        <p:spPr>
          <a:xfrm>
            <a:off x="5664200" y="4393565"/>
            <a:ext cx="6348095" cy="2353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架构设计：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          </a:t>
            </a:r>
            <a:r>
              <a:rPr lang="zh-CN" altLang="en-US" sz="1000" dirty="0"/>
              <a:t>系统的目的是在博物馆管理部门、文物保管部门、审批部门和借展用户之间建立统一的数字化管理平台，帮助各方对文物信息进行登记、对借展修复等业务流程进行审批、对文物流转产生的操作记录进行追踪、存储、自动审计，提高工作效率和管理透明度。同时解决传统文物管理中信息分散、流程不规范、追溯困难等问题。系统采用前后端分离的三层架构设计，前端基于</a:t>
            </a:r>
            <a:r>
              <a:rPr lang="en-US" altLang="zh-CN" sz="1000" dirty="0"/>
              <a:t>Vue 3</a:t>
            </a:r>
            <a:r>
              <a:rPr lang="zh-CN" altLang="en-US" sz="1000" dirty="0"/>
              <a:t>构建响应式用户界面，后端基于</a:t>
            </a:r>
            <a:r>
              <a:rPr lang="en-US" altLang="zh-CN" sz="1000" dirty="0"/>
              <a:t>Spring Boot</a:t>
            </a:r>
            <a:r>
              <a:rPr lang="zh-CN" altLang="en-US" sz="1000" dirty="0"/>
              <a:t>实现业务逻辑处理，数据层采用</a:t>
            </a:r>
            <a:r>
              <a:rPr lang="en-US" altLang="zh-CN" sz="1000" dirty="0"/>
              <a:t>MySQL</a:t>
            </a:r>
            <a:r>
              <a:rPr lang="zh-CN" altLang="en-US" sz="1000" dirty="0"/>
              <a:t>存储业务数据、</a:t>
            </a:r>
            <a:r>
              <a:rPr lang="en-US" altLang="zh-CN" sz="1000" dirty="0"/>
              <a:t>Redis</a:t>
            </a:r>
            <a:r>
              <a:rPr lang="zh-CN" altLang="en-US" sz="1000" dirty="0"/>
              <a:t>缓存热点数据。通过</a:t>
            </a:r>
            <a:r>
              <a:rPr lang="en-US" altLang="zh-CN" sz="1000" dirty="0"/>
              <a:t>JWT</a:t>
            </a:r>
            <a:r>
              <a:rPr lang="zh-CN" altLang="en-US" sz="1000" dirty="0"/>
              <a:t>无状态认证和</a:t>
            </a:r>
            <a:r>
              <a:rPr lang="en-US" altLang="zh-CN" sz="1000" dirty="0"/>
              <a:t>Spring Security</a:t>
            </a:r>
            <a:r>
              <a:rPr lang="zh-CN" altLang="en-US" sz="1000" dirty="0"/>
              <a:t>权限控制实现细粒度的角色权限管理，通过</a:t>
            </a:r>
            <a:r>
              <a:rPr lang="en-US" altLang="zh-CN" sz="1000" dirty="0"/>
              <a:t>MyBatis-Plus</a:t>
            </a:r>
            <a:r>
              <a:rPr lang="zh-CN" altLang="en-US" sz="1000" dirty="0"/>
              <a:t>简化数据持久化操作，通过</a:t>
            </a:r>
            <a:r>
              <a:rPr lang="en-US" altLang="zh-CN" sz="1000" dirty="0"/>
              <a:t>WebSocket</a:t>
            </a:r>
            <a:r>
              <a:rPr lang="zh-CN" altLang="en-US" sz="1000" dirty="0"/>
              <a:t>实现实时消息推送。系统集成</a:t>
            </a:r>
            <a:r>
              <a:rPr lang="en-US" altLang="zh-CN" sz="1000" dirty="0"/>
              <a:t>Three.js</a:t>
            </a:r>
            <a:r>
              <a:rPr lang="zh-CN" altLang="en-US" sz="1000" dirty="0"/>
              <a:t>实现</a:t>
            </a:r>
            <a:r>
              <a:rPr lang="en-US" altLang="zh-CN" sz="1000" dirty="0"/>
              <a:t>3D</a:t>
            </a:r>
            <a:r>
              <a:rPr lang="zh-CN" altLang="en-US" sz="1000" dirty="0"/>
              <a:t>文物展示，集成</a:t>
            </a:r>
            <a:r>
              <a:rPr lang="en-US" altLang="zh-CN" sz="1000" dirty="0"/>
              <a:t>ECharts</a:t>
            </a:r>
            <a:r>
              <a:rPr lang="zh-CN" altLang="en-US" sz="1000" dirty="0"/>
              <a:t>实现数据可视化分析，集成</a:t>
            </a:r>
            <a:r>
              <a:rPr lang="en-US" altLang="zh-CN" sz="1000" dirty="0"/>
              <a:t>AI</a:t>
            </a:r>
            <a:r>
              <a:rPr lang="zh-CN" altLang="en-US" sz="1000" dirty="0"/>
              <a:t>技术实现智能查询检索，为文物的数字化保护、规范化管理和智能化服务提供了完整的技术架构支撑。</a:t>
            </a:r>
            <a:endParaRPr lang="zh-CN" altLang="en-US" sz="1000" dirty="0"/>
          </a:p>
        </p:txBody>
      </p:sp>
      <p:pic>
        <p:nvPicPr>
          <p:cNvPr id="6" name="图片 5" descr="功能架构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230" y="0"/>
            <a:ext cx="5885180" cy="39236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/>
          <a:srcRect l="651" t="3819" r="2203" b="1245"/>
          <a:stretch>
            <a:fillRect/>
          </a:stretch>
        </p:blipFill>
        <p:spPr>
          <a:xfrm>
            <a:off x="5728" y="7966"/>
            <a:ext cx="12192000" cy="6858000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" cstate="print"/>
          <a:srcRect t="50000"/>
          <a:stretch>
            <a:fillRect/>
          </a:stretch>
        </p:blipFill>
        <p:spPr>
          <a:xfrm>
            <a:off x="5552575" y="-1"/>
            <a:ext cx="1086850" cy="157723"/>
          </a:xfrm>
          <a:custGeom>
            <a:avLst/>
            <a:gdLst>
              <a:gd name="connsiteX0" fmla="*/ 0 w 4121253"/>
              <a:gd name="connsiteY0" fmla="*/ 0 h 1792380"/>
              <a:gd name="connsiteX1" fmla="*/ 4121253 w 4121253"/>
              <a:gd name="connsiteY1" fmla="*/ 0 h 1792380"/>
              <a:gd name="connsiteX2" fmla="*/ 4121253 w 4121253"/>
              <a:gd name="connsiteY2" fmla="*/ 1792380 h 1792380"/>
              <a:gd name="connsiteX3" fmla="*/ 0 w 4121253"/>
              <a:gd name="connsiteY3" fmla="*/ 1792380 h 179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253" h="1792380">
                <a:moveTo>
                  <a:pt x="0" y="0"/>
                </a:moveTo>
                <a:lnTo>
                  <a:pt x="4121253" y="0"/>
                </a:lnTo>
                <a:lnTo>
                  <a:pt x="4121253" y="1792380"/>
                </a:lnTo>
                <a:lnTo>
                  <a:pt x="0" y="1792380"/>
                </a:lnTo>
                <a:close/>
              </a:path>
            </a:pathLst>
          </a:custGeom>
        </p:spPr>
      </p:pic>
      <p:sp>
        <p:nvSpPr>
          <p:cNvPr id="75" name="矩形 74"/>
          <p:cNvSpPr/>
          <p:nvPr/>
        </p:nvSpPr>
        <p:spPr>
          <a:xfrm>
            <a:off x="5311172" y="219906"/>
            <a:ext cx="1569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  <a:endParaRPr lang="zh-CN" altLang="en-US" sz="2400" b="1" spc="300" dirty="0">
              <a:solidFill>
                <a:srgbClr val="61B5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05325" y="906145"/>
            <a:ext cx="33635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   </a:t>
            </a:r>
            <a:r>
              <a:rPr lang="zh-CN" altLang="en-US" sz="3200"/>
              <a:t>核心技术亮点</a:t>
            </a:r>
            <a:endParaRPr lang="zh-CN" altLang="en-US" sz="32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/>
          <a:srcRect l="651" t="3819" r="2203" b="1245"/>
          <a:stretch>
            <a:fillRect/>
          </a:stretch>
        </p:blipFill>
        <p:spPr>
          <a:xfrm>
            <a:off x="365125" y="176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/>
          <a:srcRect t="50000"/>
          <a:stretch>
            <a:fillRect/>
          </a:stretch>
        </p:blipFill>
        <p:spPr>
          <a:xfrm>
            <a:off x="5679575" y="126999"/>
            <a:ext cx="1086850" cy="157723"/>
          </a:xfrm>
          <a:custGeom>
            <a:avLst/>
            <a:gdLst>
              <a:gd name="connsiteX0" fmla="*/ 0 w 4121253"/>
              <a:gd name="connsiteY0" fmla="*/ 0 h 1792380"/>
              <a:gd name="connsiteX1" fmla="*/ 4121253 w 4121253"/>
              <a:gd name="connsiteY1" fmla="*/ 0 h 1792380"/>
              <a:gd name="connsiteX2" fmla="*/ 4121253 w 4121253"/>
              <a:gd name="connsiteY2" fmla="*/ 1792380 h 1792380"/>
              <a:gd name="connsiteX3" fmla="*/ 0 w 4121253"/>
              <a:gd name="connsiteY3" fmla="*/ 1792380 h 179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253" h="1792380">
                <a:moveTo>
                  <a:pt x="0" y="0"/>
                </a:moveTo>
                <a:lnTo>
                  <a:pt x="4121253" y="0"/>
                </a:lnTo>
                <a:lnTo>
                  <a:pt x="4121253" y="1792380"/>
                </a:lnTo>
                <a:lnTo>
                  <a:pt x="0" y="179238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/>
        </p:nvSpPr>
        <p:spPr>
          <a:xfrm>
            <a:off x="5495290" y="213995"/>
            <a:ext cx="181038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</a:t>
            </a:r>
            <a:endParaRPr lang="zh-CN" altLang="en-US" sz="2400" b="1" spc="300" dirty="0">
              <a:solidFill>
                <a:srgbClr val="61B5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7" name="Group 22"/>
          <p:cNvGrpSpPr/>
          <p:nvPr>
            <p:custDataLst>
              <p:tags r:id="rId3"/>
            </p:custDataLst>
          </p:nvPr>
        </p:nvGrpSpPr>
        <p:grpSpPr>
          <a:xfrm>
            <a:off x="6428182" y="3752138"/>
            <a:ext cx="4192301" cy="1217066"/>
            <a:chOff x="6630373" y="3525073"/>
            <a:chExt cx="4192301" cy="1217066"/>
          </a:xfrm>
        </p:grpSpPr>
        <p:sp>
          <p:nvSpPr>
            <p:cNvPr id="118" name="Rectangle 23"/>
            <p:cNvSpPr/>
            <p:nvPr>
              <p:custDataLst>
                <p:tags r:id="rId4"/>
              </p:custDataLst>
            </p:nvPr>
          </p:nvSpPr>
          <p:spPr>
            <a:xfrm>
              <a:off x="6942646" y="3525073"/>
              <a:ext cx="3880028" cy="1217066"/>
            </a:xfrm>
            <a:prstGeom prst="rect">
              <a:avLst/>
            </a:prstGeom>
            <a:noFill/>
            <a:ln w="22225">
              <a:solidFill>
                <a:srgbClr val="83CF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19" name="Rounded Rectangle 24"/>
            <p:cNvSpPr/>
            <p:nvPr>
              <p:custDataLst>
                <p:tags r:id="rId5"/>
              </p:custDataLst>
            </p:nvPr>
          </p:nvSpPr>
          <p:spPr>
            <a:xfrm rot="2700000">
              <a:off x="6630373" y="3821332"/>
              <a:ext cx="624548" cy="624548"/>
            </a:xfrm>
            <a:prstGeom prst="roundRect">
              <a:avLst>
                <a:gd name="adj" fmla="val 19652"/>
              </a:avLst>
            </a:prstGeom>
            <a:solidFill>
              <a:srgbClr val="83CF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20" name="TextBox 47"/>
          <p:cNvSpPr txBox="1"/>
          <p:nvPr>
            <p:custDataLst>
              <p:tags r:id="rId6"/>
            </p:custDataLst>
          </p:nvPr>
        </p:nvSpPr>
        <p:spPr>
          <a:xfrm>
            <a:off x="7137629" y="3958705"/>
            <a:ext cx="3323074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构建双层检索机制（馆藏优先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+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全网兜底检索），配合创新的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7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层图片提取策略，为用户提供极其精准的智能文物搜索体验。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21" name="TextBox 41"/>
          <p:cNvSpPr txBox="1"/>
          <p:nvPr>
            <p:custDataLst>
              <p:tags r:id="rId7"/>
            </p:custDataLst>
          </p:nvPr>
        </p:nvSpPr>
        <p:spPr>
          <a:xfrm>
            <a:off x="6265399" y="3932262"/>
            <a:ext cx="941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4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22" name="Group 1"/>
          <p:cNvGrpSpPr/>
          <p:nvPr>
            <p:custDataLst>
              <p:tags r:id="rId8"/>
            </p:custDataLst>
          </p:nvPr>
        </p:nvGrpSpPr>
        <p:grpSpPr>
          <a:xfrm>
            <a:off x="1723205" y="2295197"/>
            <a:ext cx="4192301" cy="1217066"/>
            <a:chOff x="6630373" y="2068132"/>
            <a:chExt cx="4192301" cy="1217066"/>
          </a:xfrm>
        </p:grpSpPr>
        <p:sp>
          <p:nvSpPr>
            <p:cNvPr id="123" name="Rectangle 2"/>
            <p:cNvSpPr/>
            <p:nvPr>
              <p:custDataLst>
                <p:tags r:id="rId9"/>
              </p:custDataLst>
            </p:nvPr>
          </p:nvSpPr>
          <p:spPr>
            <a:xfrm>
              <a:off x="6942646" y="2068132"/>
              <a:ext cx="3880028" cy="1217066"/>
            </a:xfrm>
            <a:prstGeom prst="rect">
              <a:avLst/>
            </a:prstGeom>
            <a:noFill/>
            <a:ln w="22225">
              <a:solidFill>
                <a:srgbClr val="5DB6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24" name="Rounded Rectangle 3"/>
            <p:cNvSpPr/>
            <p:nvPr>
              <p:custDataLst>
                <p:tags r:id="rId10"/>
              </p:custDataLst>
            </p:nvPr>
          </p:nvSpPr>
          <p:spPr>
            <a:xfrm rot="2700000">
              <a:off x="6630373" y="2364391"/>
              <a:ext cx="624548" cy="624548"/>
            </a:xfrm>
            <a:prstGeom prst="roundRect">
              <a:avLst>
                <a:gd name="adj" fmla="val 19652"/>
              </a:avLst>
            </a:prstGeom>
            <a:solidFill>
              <a:srgbClr val="5DB6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25" name="Rectangle 38"/>
          <p:cNvSpPr/>
          <p:nvPr>
            <p:custDataLst>
              <p:tags r:id="rId11"/>
            </p:custDataLst>
          </p:nvPr>
        </p:nvSpPr>
        <p:spPr>
          <a:xfrm>
            <a:off x="2448109" y="2295002"/>
            <a:ext cx="1766887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cs typeface="+mn-ea"/>
                <a:sym typeface="+mn-lt"/>
              </a:rPr>
              <a:t>3D</a:t>
            </a:r>
            <a:r>
              <a:rPr lang="zh-CN" altLang="en-US" sz="1400" b="1" dirty="0">
                <a:cs typeface="+mn-ea"/>
                <a:sym typeface="+mn-lt"/>
              </a:rPr>
              <a:t>文物展示</a:t>
            </a:r>
            <a:endParaRPr lang="zh-CN" altLang="en-US" sz="1400" b="1" dirty="0">
              <a:cs typeface="+mn-ea"/>
              <a:sym typeface="+mn-lt"/>
            </a:endParaRPr>
          </a:p>
        </p:txBody>
      </p:sp>
      <p:sp>
        <p:nvSpPr>
          <p:cNvPr id="126" name="TextBox 39"/>
          <p:cNvSpPr txBox="1"/>
          <p:nvPr>
            <p:custDataLst>
              <p:tags r:id="rId12"/>
            </p:custDataLst>
          </p:nvPr>
        </p:nvSpPr>
        <p:spPr>
          <a:xfrm>
            <a:off x="1571518" y="2492209"/>
            <a:ext cx="941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1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7" name="TextBox 43"/>
          <p:cNvSpPr txBox="1"/>
          <p:nvPr>
            <p:custDataLst>
              <p:tags r:id="rId13"/>
            </p:custDataLst>
          </p:nvPr>
        </p:nvSpPr>
        <p:spPr>
          <a:xfrm>
            <a:off x="2423197" y="2492415"/>
            <a:ext cx="3328669" cy="975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基于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Three.js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渲染引擎，支持加载多种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3D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模型格式。支持对文物模型进行旋转、缩放、平移等交互控制，结合动态光照系统实现高保真展示。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128" name="Group 8"/>
          <p:cNvGrpSpPr/>
          <p:nvPr>
            <p:custDataLst>
              <p:tags r:id="rId14"/>
            </p:custDataLst>
          </p:nvPr>
        </p:nvGrpSpPr>
        <p:grpSpPr>
          <a:xfrm>
            <a:off x="1749893" y="3752138"/>
            <a:ext cx="4192301" cy="1217066"/>
            <a:chOff x="6630373" y="3525073"/>
            <a:chExt cx="4192301" cy="1217066"/>
          </a:xfrm>
        </p:grpSpPr>
        <p:sp>
          <p:nvSpPr>
            <p:cNvPr id="129" name="Rectangle 9"/>
            <p:cNvSpPr/>
            <p:nvPr>
              <p:custDataLst>
                <p:tags r:id="rId15"/>
              </p:custDataLst>
            </p:nvPr>
          </p:nvSpPr>
          <p:spPr>
            <a:xfrm>
              <a:off x="6942646" y="3525073"/>
              <a:ext cx="3880028" cy="1217066"/>
            </a:xfrm>
            <a:prstGeom prst="rect">
              <a:avLst/>
            </a:prstGeom>
            <a:noFill/>
            <a:ln w="22225">
              <a:solidFill>
                <a:srgbClr val="83CF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0" name="Rounded Rectangle 10"/>
            <p:cNvSpPr/>
            <p:nvPr>
              <p:custDataLst>
                <p:tags r:id="rId16"/>
              </p:custDataLst>
            </p:nvPr>
          </p:nvSpPr>
          <p:spPr>
            <a:xfrm rot="2700000">
              <a:off x="6630373" y="3821332"/>
              <a:ext cx="624548" cy="624548"/>
            </a:xfrm>
            <a:prstGeom prst="roundRect">
              <a:avLst>
                <a:gd name="adj" fmla="val 19652"/>
              </a:avLst>
            </a:prstGeom>
            <a:solidFill>
              <a:srgbClr val="83CF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31" name="TextBox 42"/>
          <p:cNvSpPr txBox="1"/>
          <p:nvPr>
            <p:custDataLst>
              <p:tags r:id="rId17"/>
            </p:custDataLst>
          </p:nvPr>
        </p:nvSpPr>
        <p:spPr>
          <a:xfrm>
            <a:off x="1588777" y="3992024"/>
            <a:ext cx="941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3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2" name="TextBox 45"/>
          <p:cNvSpPr txBox="1"/>
          <p:nvPr>
            <p:custDataLst>
              <p:tags r:id="rId18"/>
            </p:custDataLst>
          </p:nvPr>
        </p:nvSpPr>
        <p:spPr>
          <a:xfrm>
            <a:off x="2423077" y="3958506"/>
            <a:ext cx="3323074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内置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6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个主题结合明暗模式，演化出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12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种视觉风格。利用全局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CSS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变量动态切换，实现智能颜色适配，提升视觉交互体验。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grpSp>
        <p:nvGrpSpPr>
          <p:cNvPr id="133" name="Group 15"/>
          <p:cNvGrpSpPr/>
          <p:nvPr>
            <p:custDataLst>
              <p:tags r:id="rId19"/>
            </p:custDataLst>
          </p:nvPr>
        </p:nvGrpSpPr>
        <p:grpSpPr>
          <a:xfrm>
            <a:off x="6428182" y="2295197"/>
            <a:ext cx="4192301" cy="1217066"/>
            <a:chOff x="6630373" y="2068132"/>
            <a:chExt cx="4192301" cy="1217066"/>
          </a:xfrm>
        </p:grpSpPr>
        <p:sp>
          <p:nvSpPr>
            <p:cNvPr id="134" name="Rectangle 16"/>
            <p:cNvSpPr/>
            <p:nvPr>
              <p:custDataLst>
                <p:tags r:id="rId20"/>
              </p:custDataLst>
            </p:nvPr>
          </p:nvSpPr>
          <p:spPr>
            <a:xfrm>
              <a:off x="6942646" y="2068132"/>
              <a:ext cx="3880028" cy="1217066"/>
            </a:xfrm>
            <a:prstGeom prst="rect">
              <a:avLst/>
            </a:prstGeom>
            <a:noFill/>
            <a:ln w="22225">
              <a:solidFill>
                <a:srgbClr val="5DB6C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35" name="Rounded Rectangle 17"/>
            <p:cNvSpPr/>
            <p:nvPr>
              <p:custDataLst>
                <p:tags r:id="rId21"/>
              </p:custDataLst>
            </p:nvPr>
          </p:nvSpPr>
          <p:spPr>
            <a:xfrm rot="2700000">
              <a:off x="6630373" y="2364391"/>
              <a:ext cx="624548" cy="624548"/>
            </a:xfrm>
            <a:prstGeom prst="roundRect">
              <a:avLst>
                <a:gd name="adj" fmla="val 19652"/>
              </a:avLst>
            </a:prstGeom>
            <a:solidFill>
              <a:srgbClr val="5DB6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136" name="TextBox 40"/>
          <p:cNvSpPr txBox="1"/>
          <p:nvPr>
            <p:custDataLst>
              <p:tags r:id="rId22"/>
            </p:custDataLst>
          </p:nvPr>
        </p:nvSpPr>
        <p:spPr>
          <a:xfrm>
            <a:off x="6293551" y="2481583"/>
            <a:ext cx="9416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cs typeface="+mn-ea"/>
                <a:sym typeface="+mn-lt"/>
              </a:rPr>
              <a:t>2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7" name="TextBox 49"/>
          <p:cNvSpPr txBox="1"/>
          <p:nvPr>
            <p:custDataLst>
              <p:tags r:id="rId23"/>
            </p:custDataLst>
          </p:nvPr>
        </p:nvSpPr>
        <p:spPr>
          <a:xfrm>
            <a:off x="7150135" y="2494212"/>
            <a:ext cx="3323074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利用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WebSocket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技术与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STOMP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协议，实现系统级的实时通知功能。建立用户私有队列，确保各类业务消息得到精准与即时的推送。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38" name="Rectangle 38"/>
          <p:cNvSpPr/>
          <p:nvPr>
            <p:custDataLst>
              <p:tags r:id="rId24"/>
            </p:custDataLst>
          </p:nvPr>
        </p:nvSpPr>
        <p:spPr>
          <a:xfrm>
            <a:off x="7137565" y="2294731"/>
            <a:ext cx="1766887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+mn-ea"/>
                <a:sym typeface="+mn-lt"/>
              </a:rPr>
              <a:t>实时通知系统</a:t>
            </a:r>
            <a:endParaRPr lang="zh-CN" altLang="en-US" sz="1400" b="1" dirty="0">
              <a:cs typeface="+mn-ea"/>
              <a:sym typeface="+mn-lt"/>
            </a:endParaRPr>
          </a:p>
        </p:txBody>
      </p:sp>
      <p:sp>
        <p:nvSpPr>
          <p:cNvPr id="139" name="Rectangle 38"/>
          <p:cNvSpPr/>
          <p:nvPr>
            <p:custDataLst>
              <p:tags r:id="rId25"/>
            </p:custDataLst>
          </p:nvPr>
        </p:nvSpPr>
        <p:spPr>
          <a:xfrm>
            <a:off x="2448278" y="3752286"/>
            <a:ext cx="1766887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cs typeface="+mn-ea"/>
                <a:sym typeface="+mn-lt"/>
              </a:rPr>
              <a:t>主题系统</a:t>
            </a:r>
            <a:endParaRPr lang="zh-CN" altLang="en-US" sz="1400" b="1" dirty="0">
              <a:cs typeface="+mn-ea"/>
              <a:sym typeface="+mn-lt"/>
            </a:endParaRPr>
          </a:p>
        </p:txBody>
      </p:sp>
      <p:sp>
        <p:nvSpPr>
          <p:cNvPr id="140" name="Rectangle 38"/>
          <p:cNvSpPr/>
          <p:nvPr>
            <p:custDataLst>
              <p:tags r:id="rId26"/>
            </p:custDataLst>
          </p:nvPr>
        </p:nvSpPr>
        <p:spPr>
          <a:xfrm>
            <a:off x="7149887" y="3751918"/>
            <a:ext cx="1766887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cs typeface="+mn-ea"/>
                <a:sym typeface="+mn-lt"/>
              </a:rPr>
              <a:t>AI</a:t>
            </a:r>
            <a:r>
              <a:rPr lang="zh-CN" altLang="en-US" sz="1400" b="1" dirty="0">
                <a:cs typeface="+mn-ea"/>
                <a:sym typeface="+mn-lt"/>
              </a:rPr>
              <a:t>智能查询</a:t>
            </a:r>
            <a:endParaRPr lang="zh-CN" altLang="en-US" sz="1400" b="1" dirty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13430" y="1264920"/>
            <a:ext cx="6864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核心技术亮点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53947" y="-238869"/>
            <a:ext cx="12550140" cy="7223759"/>
          </a:xfrm>
          <a:prstGeom prst="rect">
            <a:avLst/>
          </a:prstGeom>
        </p:spPr>
      </p:pic>
      <p:grpSp>
        <p:nvGrpSpPr>
          <p:cNvPr id="37" name="组合 36"/>
          <p:cNvGrpSpPr/>
          <p:nvPr/>
        </p:nvGrpSpPr>
        <p:grpSpPr>
          <a:xfrm>
            <a:off x="3379820" y="2265015"/>
            <a:ext cx="4667962" cy="2215991"/>
            <a:chOff x="3887142" y="3648334"/>
            <a:chExt cx="4667962" cy="2215991"/>
          </a:xfrm>
        </p:grpSpPr>
        <p:sp>
          <p:nvSpPr>
            <p:cNvPr id="33" name="文本框 32"/>
            <p:cNvSpPr txBox="1"/>
            <p:nvPr/>
          </p:nvSpPr>
          <p:spPr>
            <a:xfrm>
              <a:off x="3887142" y="4904032"/>
              <a:ext cx="4667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spc="300" dirty="0">
                  <a:solidFill>
                    <a:srgbClr val="61B5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目前进度</a:t>
              </a:r>
              <a:endPara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444777" y="3648334"/>
              <a:ext cx="1295400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800" dirty="0">
                  <a:solidFill>
                    <a:srgbClr val="5DB6C3"/>
                  </a:solidFill>
                </a:rPr>
                <a:t>P</a:t>
              </a:r>
              <a:endParaRPr lang="zh-CN" altLang="en-US" sz="13800" dirty="0">
                <a:solidFill>
                  <a:srgbClr val="5DB6C3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541899" y="4511040"/>
              <a:ext cx="1332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5DB6C3"/>
                  </a:solidFill>
                </a:rPr>
                <a:t>art 03</a:t>
              </a:r>
              <a:endParaRPr lang="zh-CN" altLang="en-US" sz="2000" b="1" dirty="0">
                <a:solidFill>
                  <a:srgbClr val="5DB6C3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594258" y="2734342"/>
            <a:ext cx="1468169" cy="1277337"/>
            <a:chOff x="7594258" y="2734342"/>
            <a:chExt cx="1468169" cy="1277337"/>
          </a:xfrm>
        </p:grpSpPr>
        <p:grpSp>
          <p:nvGrpSpPr>
            <p:cNvPr id="30" name="组合 29"/>
            <p:cNvGrpSpPr/>
            <p:nvPr/>
          </p:nvGrpSpPr>
          <p:grpSpPr>
            <a:xfrm>
              <a:off x="7594258" y="2734342"/>
              <a:ext cx="1468169" cy="1277337"/>
              <a:chOff x="3798124" y="1016405"/>
              <a:chExt cx="4588132" cy="3991769"/>
            </a:xfrm>
          </p:grpSpPr>
          <p:sp>
            <p:nvSpPr>
              <p:cNvPr id="18" name="Freeform 9"/>
              <p:cNvSpPr/>
              <p:nvPr/>
            </p:nvSpPr>
            <p:spPr bwMode="auto">
              <a:xfrm>
                <a:off x="3801081" y="1026752"/>
                <a:ext cx="4582220" cy="3970271"/>
              </a:xfrm>
              <a:custGeom>
                <a:avLst/>
                <a:gdLst>
                  <a:gd name="T0" fmla="*/ 2326 w 3100"/>
                  <a:gd name="T1" fmla="*/ 0 h 2686"/>
                  <a:gd name="T2" fmla="*/ 3100 w 3100"/>
                  <a:gd name="T3" fmla="*/ 1344 h 2686"/>
                  <a:gd name="T4" fmla="*/ 2326 w 3100"/>
                  <a:gd name="T5" fmla="*/ 2686 h 2686"/>
                  <a:gd name="T6" fmla="*/ 774 w 3100"/>
                  <a:gd name="T7" fmla="*/ 2686 h 2686"/>
                  <a:gd name="T8" fmla="*/ 0 w 3100"/>
                  <a:gd name="T9" fmla="*/ 1344 h 2686"/>
                  <a:gd name="T10" fmla="*/ 774 w 3100"/>
                  <a:gd name="T11" fmla="*/ 0 h 2686"/>
                  <a:gd name="T12" fmla="*/ 2326 w 3100"/>
                  <a:gd name="T13" fmla="*/ 0 h 26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00" h="2686">
                    <a:moveTo>
                      <a:pt x="2326" y="0"/>
                    </a:moveTo>
                    <a:lnTo>
                      <a:pt x="3100" y="1344"/>
                    </a:lnTo>
                    <a:lnTo>
                      <a:pt x="2326" y="2686"/>
                    </a:lnTo>
                    <a:lnTo>
                      <a:pt x="774" y="2686"/>
                    </a:lnTo>
                    <a:lnTo>
                      <a:pt x="0" y="1344"/>
                    </a:lnTo>
                    <a:lnTo>
                      <a:pt x="774" y="0"/>
                    </a:lnTo>
                    <a:lnTo>
                      <a:pt x="2326" y="0"/>
                    </a:lnTo>
                    <a:close/>
                  </a:path>
                </a:pathLst>
              </a:custGeom>
              <a:solidFill>
                <a:srgbClr val="5DB6C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345"/>
              <p:cNvSpPr/>
              <p:nvPr/>
            </p:nvSpPr>
            <p:spPr bwMode="auto">
              <a:xfrm>
                <a:off x="4946668" y="1029745"/>
                <a:ext cx="3439588" cy="1986823"/>
              </a:xfrm>
              <a:custGeom>
                <a:avLst/>
                <a:gdLst>
                  <a:gd name="T0" fmla="*/ 2273 w 3407"/>
                  <a:gd name="T1" fmla="*/ 0 h 1968"/>
                  <a:gd name="T2" fmla="*/ 0 w 3407"/>
                  <a:gd name="T3" fmla="*/ 0 h 1968"/>
                  <a:gd name="T4" fmla="*/ 3407 w 3407"/>
                  <a:gd name="T5" fmla="*/ 1968 h 1968"/>
                  <a:gd name="T6" fmla="*/ 2273 w 3407"/>
                  <a:gd name="T7" fmla="*/ 0 h 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8">
                    <a:moveTo>
                      <a:pt x="2273" y="0"/>
                    </a:moveTo>
                    <a:lnTo>
                      <a:pt x="0" y="0"/>
                    </a:lnTo>
                    <a:lnTo>
                      <a:pt x="3407" y="1968"/>
                    </a:lnTo>
                    <a:lnTo>
                      <a:pt x="2273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22"/>
              <p:cNvSpPr/>
              <p:nvPr/>
            </p:nvSpPr>
            <p:spPr bwMode="auto">
              <a:xfrm>
                <a:off x="3800811" y="1028230"/>
                <a:ext cx="3439588" cy="1986823"/>
              </a:xfrm>
              <a:custGeom>
                <a:avLst/>
                <a:gdLst>
                  <a:gd name="T0" fmla="*/ 3407 w 3407"/>
                  <a:gd name="T1" fmla="*/ 0 h 1968"/>
                  <a:gd name="T2" fmla="*/ 1134 w 3407"/>
                  <a:gd name="T3" fmla="*/ 0 h 1968"/>
                  <a:gd name="T4" fmla="*/ 0 w 3407"/>
                  <a:gd name="T5" fmla="*/ 1968 h 1968"/>
                  <a:gd name="T6" fmla="*/ 3407 w 3407"/>
                  <a:gd name="T7" fmla="*/ 0 h 19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8">
                    <a:moveTo>
                      <a:pt x="3407" y="0"/>
                    </a:moveTo>
                    <a:lnTo>
                      <a:pt x="1134" y="0"/>
                    </a:lnTo>
                    <a:lnTo>
                      <a:pt x="0" y="1968"/>
                    </a:lnTo>
                    <a:lnTo>
                      <a:pt x="3407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25"/>
              <p:cNvSpPr/>
              <p:nvPr/>
            </p:nvSpPr>
            <p:spPr bwMode="auto">
              <a:xfrm>
                <a:off x="3800811" y="3024379"/>
                <a:ext cx="3439588" cy="1983795"/>
              </a:xfrm>
              <a:custGeom>
                <a:avLst/>
                <a:gdLst>
                  <a:gd name="T0" fmla="*/ 0 w 3407"/>
                  <a:gd name="T1" fmla="*/ 0 h 1965"/>
                  <a:gd name="T2" fmla="*/ 1134 w 3407"/>
                  <a:gd name="T3" fmla="*/ 1965 h 1965"/>
                  <a:gd name="T4" fmla="*/ 3407 w 3407"/>
                  <a:gd name="T5" fmla="*/ 1965 h 1965"/>
                  <a:gd name="T6" fmla="*/ 0 w 3407"/>
                  <a:gd name="T7" fmla="*/ 0 h 19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5">
                    <a:moveTo>
                      <a:pt x="0" y="0"/>
                    </a:moveTo>
                    <a:lnTo>
                      <a:pt x="1134" y="1965"/>
                    </a:lnTo>
                    <a:lnTo>
                      <a:pt x="3407" y="196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33"/>
              <p:cNvSpPr/>
              <p:nvPr/>
            </p:nvSpPr>
            <p:spPr bwMode="auto">
              <a:xfrm>
                <a:off x="4946668" y="3016568"/>
                <a:ext cx="3439588" cy="1983795"/>
              </a:xfrm>
              <a:custGeom>
                <a:avLst/>
                <a:gdLst>
                  <a:gd name="T0" fmla="*/ 3407 w 3407"/>
                  <a:gd name="T1" fmla="*/ 0 h 1965"/>
                  <a:gd name="T2" fmla="*/ 0 w 3407"/>
                  <a:gd name="T3" fmla="*/ 1965 h 1965"/>
                  <a:gd name="T4" fmla="*/ 2273 w 3407"/>
                  <a:gd name="T5" fmla="*/ 1965 h 1965"/>
                  <a:gd name="T6" fmla="*/ 3407 w 3407"/>
                  <a:gd name="T7" fmla="*/ 0 h 19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07" h="1965">
                    <a:moveTo>
                      <a:pt x="3407" y="0"/>
                    </a:moveTo>
                    <a:lnTo>
                      <a:pt x="0" y="1965"/>
                    </a:lnTo>
                    <a:lnTo>
                      <a:pt x="2273" y="1965"/>
                    </a:lnTo>
                    <a:lnTo>
                      <a:pt x="3407" y="0"/>
                    </a:lnTo>
                    <a:close/>
                  </a:path>
                </a:pathLst>
              </a:custGeom>
              <a:solidFill>
                <a:srgbClr val="FFFFFF">
                  <a:alpha val="21961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31"/>
              <p:cNvSpPr/>
              <p:nvPr/>
            </p:nvSpPr>
            <p:spPr bwMode="auto">
              <a:xfrm>
                <a:off x="3798124" y="1016405"/>
                <a:ext cx="4524573" cy="3915581"/>
              </a:xfrm>
              <a:custGeom>
                <a:avLst/>
                <a:gdLst>
                  <a:gd name="T0" fmla="*/ 2297 w 3061"/>
                  <a:gd name="T1" fmla="*/ 0 h 2649"/>
                  <a:gd name="T2" fmla="*/ 3061 w 3061"/>
                  <a:gd name="T3" fmla="*/ 1325 h 2649"/>
                  <a:gd name="T4" fmla="*/ 2297 w 3061"/>
                  <a:gd name="T5" fmla="*/ 2649 h 2649"/>
                  <a:gd name="T6" fmla="*/ 764 w 3061"/>
                  <a:gd name="T7" fmla="*/ 2649 h 2649"/>
                  <a:gd name="T8" fmla="*/ 0 w 3061"/>
                  <a:gd name="T9" fmla="*/ 1325 h 2649"/>
                  <a:gd name="T10" fmla="*/ 764 w 3061"/>
                  <a:gd name="T11" fmla="*/ 0 h 2649"/>
                  <a:gd name="T12" fmla="*/ 2297 w 3061"/>
                  <a:gd name="T13" fmla="*/ 0 h 26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61" h="2649">
                    <a:moveTo>
                      <a:pt x="2297" y="0"/>
                    </a:moveTo>
                    <a:lnTo>
                      <a:pt x="3061" y="1325"/>
                    </a:lnTo>
                    <a:lnTo>
                      <a:pt x="2297" y="2649"/>
                    </a:lnTo>
                    <a:lnTo>
                      <a:pt x="764" y="2649"/>
                    </a:lnTo>
                    <a:lnTo>
                      <a:pt x="0" y="1325"/>
                    </a:lnTo>
                    <a:lnTo>
                      <a:pt x="764" y="0"/>
                    </a:lnTo>
                    <a:lnTo>
                      <a:pt x="229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33"/>
              <p:cNvSpPr/>
              <p:nvPr/>
            </p:nvSpPr>
            <p:spPr bwMode="auto">
              <a:xfrm>
                <a:off x="6059671" y="1016405"/>
                <a:ext cx="2263026" cy="1958530"/>
              </a:xfrm>
              <a:custGeom>
                <a:avLst/>
                <a:gdLst>
                  <a:gd name="T0" fmla="*/ 767 w 1531"/>
                  <a:gd name="T1" fmla="*/ 0 h 1325"/>
                  <a:gd name="T2" fmla="*/ 767 w 1531"/>
                  <a:gd name="T3" fmla="*/ 0 h 1325"/>
                  <a:gd name="T4" fmla="*/ 0 w 1531"/>
                  <a:gd name="T5" fmla="*/ 442 h 1325"/>
                  <a:gd name="T6" fmla="*/ 1531 w 1531"/>
                  <a:gd name="T7" fmla="*/ 1325 h 1325"/>
                  <a:gd name="T8" fmla="*/ 767 w 1531"/>
                  <a:gd name="T9" fmla="*/ 0 h 1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1" h="1325">
                    <a:moveTo>
                      <a:pt x="767" y="0"/>
                    </a:moveTo>
                    <a:lnTo>
                      <a:pt x="767" y="0"/>
                    </a:lnTo>
                    <a:lnTo>
                      <a:pt x="0" y="442"/>
                    </a:lnTo>
                    <a:lnTo>
                      <a:pt x="1531" y="1325"/>
                    </a:lnTo>
                    <a:lnTo>
                      <a:pt x="76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135"/>
              <p:cNvSpPr/>
              <p:nvPr/>
            </p:nvSpPr>
            <p:spPr bwMode="auto">
              <a:xfrm>
                <a:off x="3798124" y="2974934"/>
                <a:ext cx="3395277" cy="1957051"/>
              </a:xfrm>
              <a:custGeom>
                <a:avLst/>
                <a:gdLst>
                  <a:gd name="T0" fmla="*/ 0 w 2297"/>
                  <a:gd name="T1" fmla="*/ 0 h 1324"/>
                  <a:gd name="T2" fmla="*/ 764 w 2297"/>
                  <a:gd name="T3" fmla="*/ 1324 h 1324"/>
                  <a:gd name="T4" fmla="*/ 2297 w 2297"/>
                  <a:gd name="T5" fmla="*/ 1324 h 1324"/>
                  <a:gd name="T6" fmla="*/ 764 w 2297"/>
                  <a:gd name="T7" fmla="*/ 1324 h 1324"/>
                  <a:gd name="T8" fmla="*/ 1530 w 2297"/>
                  <a:gd name="T9" fmla="*/ 882 h 1324"/>
                  <a:gd name="T10" fmla="*/ 0 w 2297"/>
                  <a:gd name="T11" fmla="*/ 0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97" h="1324">
                    <a:moveTo>
                      <a:pt x="0" y="0"/>
                    </a:moveTo>
                    <a:lnTo>
                      <a:pt x="764" y="1324"/>
                    </a:lnTo>
                    <a:lnTo>
                      <a:pt x="2297" y="1324"/>
                    </a:lnTo>
                    <a:lnTo>
                      <a:pt x="764" y="1324"/>
                    </a:lnTo>
                    <a:lnTo>
                      <a:pt x="1530" y="882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137"/>
              <p:cNvSpPr/>
              <p:nvPr/>
            </p:nvSpPr>
            <p:spPr bwMode="auto">
              <a:xfrm>
                <a:off x="6059671" y="2974934"/>
                <a:ext cx="2263026" cy="1957051"/>
              </a:xfrm>
              <a:custGeom>
                <a:avLst/>
                <a:gdLst>
                  <a:gd name="T0" fmla="*/ 1531 w 1531"/>
                  <a:gd name="T1" fmla="*/ 0 h 1324"/>
                  <a:gd name="T2" fmla="*/ 0 w 1531"/>
                  <a:gd name="T3" fmla="*/ 882 h 1324"/>
                  <a:gd name="T4" fmla="*/ 767 w 1531"/>
                  <a:gd name="T5" fmla="*/ 1324 h 1324"/>
                  <a:gd name="T6" fmla="*/ 1531 w 1531"/>
                  <a:gd name="T7" fmla="*/ 0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31" h="1324">
                    <a:moveTo>
                      <a:pt x="1531" y="0"/>
                    </a:moveTo>
                    <a:lnTo>
                      <a:pt x="0" y="882"/>
                    </a:lnTo>
                    <a:lnTo>
                      <a:pt x="767" y="1324"/>
                    </a:lnTo>
                    <a:lnTo>
                      <a:pt x="153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139"/>
              <p:cNvSpPr/>
              <p:nvPr/>
            </p:nvSpPr>
            <p:spPr bwMode="auto">
              <a:xfrm>
                <a:off x="4927420" y="4278650"/>
                <a:ext cx="2265982" cy="653336"/>
              </a:xfrm>
              <a:custGeom>
                <a:avLst/>
                <a:gdLst>
                  <a:gd name="T0" fmla="*/ 766 w 1533"/>
                  <a:gd name="T1" fmla="*/ 0 h 442"/>
                  <a:gd name="T2" fmla="*/ 0 w 1533"/>
                  <a:gd name="T3" fmla="*/ 442 h 442"/>
                  <a:gd name="T4" fmla="*/ 1533 w 1533"/>
                  <a:gd name="T5" fmla="*/ 442 h 442"/>
                  <a:gd name="T6" fmla="*/ 766 w 1533"/>
                  <a:gd name="T7" fmla="*/ 0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33" h="442">
                    <a:moveTo>
                      <a:pt x="766" y="0"/>
                    </a:moveTo>
                    <a:lnTo>
                      <a:pt x="0" y="442"/>
                    </a:lnTo>
                    <a:lnTo>
                      <a:pt x="1533" y="442"/>
                    </a:lnTo>
                    <a:lnTo>
                      <a:pt x="7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141"/>
              <p:cNvSpPr/>
              <p:nvPr/>
            </p:nvSpPr>
            <p:spPr bwMode="auto">
              <a:xfrm>
                <a:off x="3798124" y="1016405"/>
                <a:ext cx="2261547" cy="1958530"/>
              </a:xfrm>
              <a:custGeom>
                <a:avLst/>
                <a:gdLst>
                  <a:gd name="T0" fmla="*/ 764 w 1530"/>
                  <a:gd name="T1" fmla="*/ 0 h 1325"/>
                  <a:gd name="T2" fmla="*/ 764 w 1530"/>
                  <a:gd name="T3" fmla="*/ 0 h 1325"/>
                  <a:gd name="T4" fmla="*/ 0 w 1530"/>
                  <a:gd name="T5" fmla="*/ 1325 h 1325"/>
                  <a:gd name="T6" fmla="*/ 1530 w 1530"/>
                  <a:gd name="T7" fmla="*/ 442 h 1325"/>
                  <a:gd name="T8" fmla="*/ 764 w 1530"/>
                  <a:gd name="T9" fmla="*/ 0 h 1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30" h="1325">
                    <a:moveTo>
                      <a:pt x="764" y="0"/>
                    </a:moveTo>
                    <a:lnTo>
                      <a:pt x="764" y="0"/>
                    </a:lnTo>
                    <a:lnTo>
                      <a:pt x="0" y="1325"/>
                    </a:lnTo>
                    <a:lnTo>
                      <a:pt x="1530" y="442"/>
                    </a:lnTo>
                    <a:lnTo>
                      <a:pt x="76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43"/>
              <p:cNvSpPr/>
              <p:nvPr/>
            </p:nvSpPr>
            <p:spPr bwMode="auto">
              <a:xfrm>
                <a:off x="4927420" y="1016405"/>
                <a:ext cx="2265982" cy="653336"/>
              </a:xfrm>
              <a:custGeom>
                <a:avLst/>
                <a:gdLst>
                  <a:gd name="T0" fmla="*/ 1533 w 1533"/>
                  <a:gd name="T1" fmla="*/ 0 h 442"/>
                  <a:gd name="T2" fmla="*/ 0 w 1533"/>
                  <a:gd name="T3" fmla="*/ 0 h 442"/>
                  <a:gd name="T4" fmla="*/ 766 w 1533"/>
                  <a:gd name="T5" fmla="*/ 442 h 442"/>
                  <a:gd name="T6" fmla="*/ 1533 w 1533"/>
                  <a:gd name="T7" fmla="*/ 0 h 4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33" h="442">
                    <a:moveTo>
                      <a:pt x="1533" y="0"/>
                    </a:moveTo>
                    <a:lnTo>
                      <a:pt x="0" y="0"/>
                    </a:lnTo>
                    <a:lnTo>
                      <a:pt x="766" y="442"/>
                    </a:lnTo>
                    <a:lnTo>
                      <a:pt x="1533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34" name="Freeform 151"/>
            <p:cNvSpPr>
              <a:spLocks noChangeArrowheads="1"/>
            </p:cNvSpPr>
            <p:nvPr/>
          </p:nvSpPr>
          <p:spPr bwMode="auto">
            <a:xfrm>
              <a:off x="8039951" y="3204569"/>
              <a:ext cx="576782" cy="336883"/>
            </a:xfrm>
            <a:custGeom>
              <a:avLst/>
              <a:gdLst>
                <a:gd name="T0" fmla="*/ 124 w 497"/>
                <a:gd name="T1" fmla="*/ 221 h 293"/>
                <a:gd name="T2" fmla="*/ 124 w 497"/>
                <a:gd name="T3" fmla="*/ 221 h 293"/>
                <a:gd name="T4" fmla="*/ 124 w 497"/>
                <a:gd name="T5" fmla="*/ 97 h 293"/>
                <a:gd name="T6" fmla="*/ 177 w 497"/>
                <a:gd name="T7" fmla="*/ 97 h 293"/>
                <a:gd name="T8" fmla="*/ 88 w 497"/>
                <a:gd name="T9" fmla="*/ 0 h 293"/>
                <a:gd name="T10" fmla="*/ 0 w 497"/>
                <a:gd name="T11" fmla="*/ 97 h 293"/>
                <a:gd name="T12" fmla="*/ 53 w 497"/>
                <a:gd name="T13" fmla="*/ 97 h 293"/>
                <a:gd name="T14" fmla="*/ 53 w 497"/>
                <a:gd name="T15" fmla="*/ 248 h 293"/>
                <a:gd name="T16" fmla="*/ 97 w 497"/>
                <a:gd name="T17" fmla="*/ 292 h 293"/>
                <a:gd name="T18" fmla="*/ 319 w 497"/>
                <a:gd name="T19" fmla="*/ 292 h 293"/>
                <a:gd name="T20" fmla="*/ 256 w 497"/>
                <a:gd name="T21" fmla="*/ 221 h 293"/>
                <a:gd name="T22" fmla="*/ 124 w 497"/>
                <a:gd name="T23" fmla="*/ 221 h 293"/>
                <a:gd name="T24" fmla="*/ 443 w 497"/>
                <a:gd name="T25" fmla="*/ 195 h 293"/>
                <a:gd name="T26" fmla="*/ 443 w 497"/>
                <a:gd name="T27" fmla="*/ 195 h 293"/>
                <a:gd name="T28" fmla="*/ 443 w 497"/>
                <a:gd name="T29" fmla="*/ 44 h 293"/>
                <a:gd name="T30" fmla="*/ 399 w 497"/>
                <a:gd name="T31" fmla="*/ 0 h 293"/>
                <a:gd name="T32" fmla="*/ 177 w 497"/>
                <a:gd name="T33" fmla="*/ 0 h 293"/>
                <a:gd name="T34" fmla="*/ 239 w 497"/>
                <a:gd name="T35" fmla="*/ 61 h 293"/>
                <a:gd name="T36" fmla="*/ 372 w 497"/>
                <a:gd name="T37" fmla="*/ 61 h 293"/>
                <a:gd name="T38" fmla="*/ 372 w 497"/>
                <a:gd name="T39" fmla="*/ 195 h 293"/>
                <a:gd name="T40" fmla="*/ 319 w 497"/>
                <a:gd name="T41" fmla="*/ 195 h 293"/>
                <a:gd name="T42" fmla="*/ 407 w 497"/>
                <a:gd name="T43" fmla="*/ 292 h 293"/>
                <a:gd name="T44" fmla="*/ 496 w 497"/>
                <a:gd name="T45" fmla="*/ 195 h 293"/>
                <a:gd name="T46" fmla="*/ 443 w 497"/>
                <a:gd name="T47" fmla="*/ 195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97" h="293">
                  <a:moveTo>
                    <a:pt x="124" y="221"/>
                  </a:moveTo>
                  <a:lnTo>
                    <a:pt x="124" y="221"/>
                  </a:lnTo>
                  <a:cubicBezTo>
                    <a:pt x="124" y="97"/>
                    <a:pt x="124" y="97"/>
                    <a:pt x="124" y="97"/>
                  </a:cubicBezTo>
                  <a:cubicBezTo>
                    <a:pt x="177" y="97"/>
                    <a:pt x="177" y="97"/>
                    <a:pt x="177" y="97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53" y="97"/>
                    <a:pt x="53" y="97"/>
                    <a:pt x="53" y="97"/>
                  </a:cubicBezTo>
                  <a:cubicBezTo>
                    <a:pt x="53" y="248"/>
                    <a:pt x="53" y="248"/>
                    <a:pt x="53" y="248"/>
                  </a:cubicBezTo>
                  <a:cubicBezTo>
                    <a:pt x="53" y="274"/>
                    <a:pt x="71" y="292"/>
                    <a:pt x="97" y="292"/>
                  </a:cubicBezTo>
                  <a:cubicBezTo>
                    <a:pt x="319" y="292"/>
                    <a:pt x="319" y="292"/>
                    <a:pt x="319" y="292"/>
                  </a:cubicBezTo>
                  <a:cubicBezTo>
                    <a:pt x="256" y="221"/>
                    <a:pt x="256" y="221"/>
                    <a:pt x="256" y="221"/>
                  </a:cubicBezTo>
                  <a:lnTo>
                    <a:pt x="124" y="221"/>
                  </a:lnTo>
                  <a:close/>
                  <a:moveTo>
                    <a:pt x="443" y="195"/>
                  </a:moveTo>
                  <a:lnTo>
                    <a:pt x="443" y="195"/>
                  </a:lnTo>
                  <a:cubicBezTo>
                    <a:pt x="443" y="44"/>
                    <a:pt x="443" y="44"/>
                    <a:pt x="443" y="44"/>
                  </a:cubicBezTo>
                  <a:cubicBezTo>
                    <a:pt x="443" y="17"/>
                    <a:pt x="425" y="0"/>
                    <a:pt x="399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239" y="61"/>
                    <a:pt x="239" y="61"/>
                    <a:pt x="239" y="61"/>
                  </a:cubicBezTo>
                  <a:cubicBezTo>
                    <a:pt x="372" y="61"/>
                    <a:pt x="372" y="61"/>
                    <a:pt x="372" y="61"/>
                  </a:cubicBezTo>
                  <a:cubicBezTo>
                    <a:pt x="372" y="195"/>
                    <a:pt x="372" y="195"/>
                    <a:pt x="372" y="195"/>
                  </a:cubicBezTo>
                  <a:cubicBezTo>
                    <a:pt x="319" y="195"/>
                    <a:pt x="319" y="195"/>
                    <a:pt x="319" y="195"/>
                  </a:cubicBezTo>
                  <a:cubicBezTo>
                    <a:pt x="407" y="292"/>
                    <a:pt x="407" y="292"/>
                    <a:pt x="407" y="292"/>
                  </a:cubicBezTo>
                  <a:cubicBezTo>
                    <a:pt x="496" y="195"/>
                    <a:pt x="496" y="195"/>
                    <a:pt x="496" y="195"/>
                  </a:cubicBezTo>
                  <a:lnTo>
                    <a:pt x="443" y="195"/>
                  </a:ln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534670"/>
              <a:endParaRPr lang="en-US" sz="2105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/>
          <a:srcRect l="651" t="3819" r="2203" b="1245"/>
          <a:stretch>
            <a:fillRect/>
          </a:stretch>
        </p:blipFill>
        <p:spPr>
          <a:xfrm>
            <a:off x="0" y="7262"/>
            <a:ext cx="12192000" cy="6954632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" cstate="print"/>
          <a:srcRect t="50000"/>
          <a:stretch>
            <a:fillRect/>
          </a:stretch>
        </p:blipFill>
        <p:spPr>
          <a:xfrm>
            <a:off x="5552575" y="-1"/>
            <a:ext cx="1086850" cy="157723"/>
          </a:xfrm>
          <a:custGeom>
            <a:avLst/>
            <a:gdLst>
              <a:gd name="connsiteX0" fmla="*/ 0 w 4121253"/>
              <a:gd name="connsiteY0" fmla="*/ 0 h 1792380"/>
              <a:gd name="connsiteX1" fmla="*/ 4121253 w 4121253"/>
              <a:gd name="connsiteY1" fmla="*/ 0 h 1792380"/>
              <a:gd name="connsiteX2" fmla="*/ 4121253 w 4121253"/>
              <a:gd name="connsiteY2" fmla="*/ 1792380 h 1792380"/>
              <a:gd name="connsiteX3" fmla="*/ 0 w 4121253"/>
              <a:gd name="connsiteY3" fmla="*/ 1792380 h 179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253" h="1792380">
                <a:moveTo>
                  <a:pt x="0" y="0"/>
                </a:moveTo>
                <a:lnTo>
                  <a:pt x="4121253" y="0"/>
                </a:lnTo>
                <a:lnTo>
                  <a:pt x="4121253" y="1792380"/>
                </a:lnTo>
                <a:lnTo>
                  <a:pt x="0" y="1792380"/>
                </a:lnTo>
                <a:close/>
              </a:path>
            </a:pathLst>
          </a:custGeom>
        </p:spPr>
      </p:pic>
      <p:sp>
        <p:nvSpPr>
          <p:cNvPr id="33" name="Rectangle 3"/>
          <p:cNvSpPr/>
          <p:nvPr/>
        </p:nvSpPr>
        <p:spPr>
          <a:xfrm>
            <a:off x="0" y="5114414"/>
            <a:ext cx="12191999" cy="1217233"/>
          </a:xfrm>
          <a:prstGeom prst="rect">
            <a:avLst/>
          </a:prstGeom>
          <a:solidFill>
            <a:srgbClr val="D3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90" name="Oval 39"/>
          <p:cNvSpPr/>
          <p:nvPr/>
        </p:nvSpPr>
        <p:spPr>
          <a:xfrm>
            <a:off x="7332483" y="4903777"/>
            <a:ext cx="591048" cy="591048"/>
          </a:xfrm>
          <a:prstGeom prst="ellipse">
            <a:avLst/>
          </a:prstGeom>
          <a:solidFill>
            <a:srgbClr val="5DB6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200" dirty="0">
              <a:cs typeface="+mn-ea"/>
              <a:sym typeface="+mn-lt"/>
            </a:endParaRPr>
          </a:p>
        </p:txBody>
      </p:sp>
      <p:sp>
        <p:nvSpPr>
          <p:cNvPr id="91" name="Oval 40"/>
          <p:cNvSpPr/>
          <p:nvPr/>
        </p:nvSpPr>
        <p:spPr>
          <a:xfrm>
            <a:off x="4242066" y="4903777"/>
            <a:ext cx="591048" cy="591048"/>
          </a:xfrm>
          <a:prstGeom prst="ellipse">
            <a:avLst/>
          </a:prstGeom>
          <a:solidFill>
            <a:srgbClr val="83CF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200" dirty="0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325" y="602615"/>
            <a:ext cx="4064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核心模块与业务功能</a:t>
            </a:r>
            <a:endParaRPr lang="zh-CN" altLang="en-US"/>
          </a:p>
          <a:p>
            <a:r>
              <a:rPr lang="zh-CN" altLang="en-US"/>
              <a:t>用户与权限管理模块：</a:t>
            </a:r>
            <a:endParaRPr lang="zh-CN" altLang="en-US"/>
          </a:p>
          <a:p>
            <a:r>
              <a:rPr lang="zh-CN" altLang="en-US"/>
              <a:t>已实现基于</a:t>
            </a:r>
            <a:r>
              <a:rPr lang="en-US" altLang="zh-CN"/>
              <a:t> JWT </a:t>
            </a:r>
            <a:r>
              <a:rPr lang="zh-CN" altLang="en-US"/>
              <a:t>的多角色（管理员、专家、员工）鉴权体系，完成员工信息管理及安全审计日志功能开发。</a:t>
            </a:r>
            <a:endParaRPr lang="zh-CN" altLang="en-US"/>
          </a:p>
          <a:p>
            <a:r>
              <a:rPr lang="zh-CN" altLang="en-US"/>
              <a:t>文物档案管理模块：</a:t>
            </a:r>
            <a:endParaRPr lang="zh-CN" altLang="en-US"/>
          </a:p>
          <a:p>
            <a:r>
              <a:rPr lang="zh-CN" altLang="en-US"/>
              <a:t>完成文物基本信息的建立、电子标签生成、分类检索机制，并打通出入库状态追踪与多媒体资料管理。</a:t>
            </a:r>
            <a:endParaRPr lang="zh-CN" altLang="en-US"/>
          </a:p>
          <a:p>
            <a:r>
              <a:rPr lang="zh-CN" altLang="en-US"/>
              <a:t>业务流程审批模块：</a:t>
            </a:r>
            <a:endParaRPr lang="zh-CN" altLang="en-US"/>
          </a:p>
          <a:p>
            <a:r>
              <a:rPr lang="zh-CN" altLang="en-US"/>
              <a:t>已完成完整的文物修复申请、借展审批流程的闭环管理状态机，支持节点流转、专家审批与退回处理。</a:t>
            </a:r>
            <a:endParaRPr lang="zh-CN" altLang="en-US"/>
          </a:p>
          <a:p>
            <a:r>
              <a:rPr lang="zh-CN" altLang="en-US"/>
              <a:t>统计大屏与数据可视化：</a:t>
            </a:r>
            <a:endParaRPr lang="zh-CN" altLang="en-US"/>
          </a:p>
          <a:p>
            <a:r>
              <a:rPr lang="zh-CN" altLang="en-US"/>
              <a:t>已对接</a:t>
            </a:r>
            <a:r>
              <a:rPr lang="en-US" altLang="zh-CN"/>
              <a:t> ECharts </a:t>
            </a:r>
            <a:r>
              <a:rPr lang="zh-CN" altLang="en-US"/>
              <a:t>完成可视化仪表盘的开发，可实时展示馆藏数据统计、借展趋势及报警监控分析。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39560" y="602615"/>
            <a:ext cx="4064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特色与智能化扩展模块</a:t>
            </a:r>
            <a:endParaRPr lang="zh-CN" altLang="en-US"/>
          </a:p>
          <a:p>
            <a:r>
              <a:rPr lang="en-US" altLang="zh-CN"/>
              <a:t>3D </a:t>
            </a:r>
            <a:r>
              <a:rPr lang="zh-CN" altLang="en-US"/>
              <a:t>沉浸式展示交互：</a:t>
            </a:r>
            <a:endParaRPr lang="zh-CN" altLang="en-US"/>
          </a:p>
          <a:p>
            <a:r>
              <a:rPr lang="zh-CN" altLang="en-US"/>
              <a:t>已整合</a:t>
            </a:r>
            <a:r>
              <a:rPr lang="en-US" altLang="zh-CN"/>
              <a:t> Three.js </a:t>
            </a:r>
            <a:r>
              <a:rPr lang="zh-CN" altLang="en-US"/>
              <a:t>技术，完成文物的高精度</a:t>
            </a:r>
            <a:r>
              <a:rPr lang="en-US" altLang="zh-CN"/>
              <a:t> 3D </a:t>
            </a:r>
            <a:r>
              <a:rPr lang="zh-CN" altLang="en-US"/>
              <a:t>模型渲染，支持鼠标拖拽缩放、全视角旋转与热点交互展示。</a:t>
            </a:r>
            <a:endParaRPr lang="zh-CN" altLang="en-US"/>
          </a:p>
          <a:p>
            <a:r>
              <a:rPr lang="en-US" altLang="zh-CN"/>
              <a:t>AI </a:t>
            </a:r>
            <a:r>
              <a:rPr lang="zh-CN" altLang="en-US"/>
              <a:t>智能双层检索系统：</a:t>
            </a:r>
            <a:endParaRPr lang="zh-CN" altLang="en-US"/>
          </a:p>
          <a:p>
            <a:r>
              <a:rPr lang="zh-CN" altLang="en-US"/>
              <a:t>已成功接入语言大模型，实现自然语言交互查询。用户可通过对话快速检索文物历史资料并获取智能回复。</a:t>
            </a:r>
            <a:endParaRPr lang="zh-CN" altLang="en-US"/>
          </a:p>
          <a:p>
            <a:r>
              <a:rPr lang="zh-CN" altLang="en-US"/>
              <a:t>实时消息与通知中心：</a:t>
            </a:r>
            <a:endParaRPr lang="zh-CN" altLang="en-US"/>
          </a:p>
          <a:p>
            <a:r>
              <a:rPr lang="zh-CN" altLang="en-US"/>
              <a:t>基于</a:t>
            </a:r>
            <a:r>
              <a:rPr lang="en-US" altLang="zh-CN"/>
              <a:t> WebSocket + STOMP </a:t>
            </a:r>
            <a:r>
              <a:rPr lang="zh-CN" altLang="en-US"/>
              <a:t>的全双工通信服务已部署，能够实现审批进度、报警消息的毫秒级推送。</a:t>
            </a:r>
            <a:endParaRPr lang="zh-CN" altLang="en-US"/>
          </a:p>
          <a:p>
            <a:r>
              <a:rPr lang="zh-CN" altLang="en-US"/>
              <a:t>数字档案优化：</a:t>
            </a:r>
            <a:endParaRPr lang="zh-CN" altLang="en-US"/>
          </a:p>
          <a:p>
            <a:r>
              <a:rPr lang="zh-CN" altLang="en-US"/>
              <a:t>完成高并发下的图片批量上传及压缩存储功能开发，显著提升多媒体附件加载速度。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53947" y="-238869"/>
            <a:ext cx="12550140" cy="7223759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7594258" y="2734342"/>
            <a:ext cx="1468169" cy="1277337"/>
            <a:chOff x="3798124" y="1016405"/>
            <a:chExt cx="4588132" cy="3991769"/>
          </a:xfrm>
        </p:grpSpPr>
        <p:sp>
          <p:nvSpPr>
            <p:cNvPr id="18" name="Freeform 9"/>
            <p:cNvSpPr/>
            <p:nvPr/>
          </p:nvSpPr>
          <p:spPr bwMode="auto">
            <a:xfrm>
              <a:off x="3801081" y="1026752"/>
              <a:ext cx="4582220" cy="3970271"/>
            </a:xfrm>
            <a:custGeom>
              <a:avLst/>
              <a:gdLst>
                <a:gd name="T0" fmla="*/ 2326 w 3100"/>
                <a:gd name="T1" fmla="*/ 0 h 2686"/>
                <a:gd name="T2" fmla="*/ 3100 w 3100"/>
                <a:gd name="T3" fmla="*/ 1344 h 2686"/>
                <a:gd name="T4" fmla="*/ 2326 w 3100"/>
                <a:gd name="T5" fmla="*/ 2686 h 2686"/>
                <a:gd name="T6" fmla="*/ 774 w 3100"/>
                <a:gd name="T7" fmla="*/ 2686 h 2686"/>
                <a:gd name="T8" fmla="*/ 0 w 3100"/>
                <a:gd name="T9" fmla="*/ 1344 h 2686"/>
                <a:gd name="T10" fmla="*/ 774 w 3100"/>
                <a:gd name="T11" fmla="*/ 0 h 2686"/>
                <a:gd name="T12" fmla="*/ 2326 w 3100"/>
                <a:gd name="T13" fmla="*/ 0 h 2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0" h="2686">
                  <a:moveTo>
                    <a:pt x="2326" y="0"/>
                  </a:moveTo>
                  <a:lnTo>
                    <a:pt x="3100" y="1344"/>
                  </a:lnTo>
                  <a:lnTo>
                    <a:pt x="2326" y="2686"/>
                  </a:lnTo>
                  <a:lnTo>
                    <a:pt x="774" y="2686"/>
                  </a:lnTo>
                  <a:lnTo>
                    <a:pt x="0" y="1344"/>
                  </a:lnTo>
                  <a:lnTo>
                    <a:pt x="774" y="0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5DB6C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345"/>
            <p:cNvSpPr/>
            <p:nvPr/>
          </p:nvSpPr>
          <p:spPr bwMode="auto">
            <a:xfrm>
              <a:off x="4946668" y="1029745"/>
              <a:ext cx="3439588" cy="1986823"/>
            </a:xfrm>
            <a:custGeom>
              <a:avLst/>
              <a:gdLst>
                <a:gd name="T0" fmla="*/ 2273 w 3407"/>
                <a:gd name="T1" fmla="*/ 0 h 1968"/>
                <a:gd name="T2" fmla="*/ 0 w 3407"/>
                <a:gd name="T3" fmla="*/ 0 h 1968"/>
                <a:gd name="T4" fmla="*/ 3407 w 3407"/>
                <a:gd name="T5" fmla="*/ 1968 h 1968"/>
                <a:gd name="T6" fmla="*/ 2273 w 3407"/>
                <a:gd name="T7" fmla="*/ 0 h 1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7" h="1968">
                  <a:moveTo>
                    <a:pt x="2273" y="0"/>
                  </a:moveTo>
                  <a:lnTo>
                    <a:pt x="0" y="0"/>
                  </a:lnTo>
                  <a:lnTo>
                    <a:pt x="3407" y="1968"/>
                  </a:lnTo>
                  <a:lnTo>
                    <a:pt x="2273" y="0"/>
                  </a:ln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22"/>
            <p:cNvSpPr/>
            <p:nvPr/>
          </p:nvSpPr>
          <p:spPr bwMode="auto">
            <a:xfrm>
              <a:off x="3800811" y="1028230"/>
              <a:ext cx="3439588" cy="1986823"/>
            </a:xfrm>
            <a:custGeom>
              <a:avLst/>
              <a:gdLst>
                <a:gd name="T0" fmla="*/ 3407 w 3407"/>
                <a:gd name="T1" fmla="*/ 0 h 1968"/>
                <a:gd name="T2" fmla="*/ 1134 w 3407"/>
                <a:gd name="T3" fmla="*/ 0 h 1968"/>
                <a:gd name="T4" fmla="*/ 0 w 3407"/>
                <a:gd name="T5" fmla="*/ 1968 h 1968"/>
                <a:gd name="T6" fmla="*/ 3407 w 3407"/>
                <a:gd name="T7" fmla="*/ 0 h 1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7" h="1968">
                  <a:moveTo>
                    <a:pt x="3407" y="0"/>
                  </a:moveTo>
                  <a:lnTo>
                    <a:pt x="1134" y="0"/>
                  </a:lnTo>
                  <a:lnTo>
                    <a:pt x="0" y="1968"/>
                  </a:lnTo>
                  <a:lnTo>
                    <a:pt x="3407" y="0"/>
                  </a:ln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25"/>
            <p:cNvSpPr/>
            <p:nvPr/>
          </p:nvSpPr>
          <p:spPr bwMode="auto">
            <a:xfrm>
              <a:off x="3800811" y="3024379"/>
              <a:ext cx="3439588" cy="1983795"/>
            </a:xfrm>
            <a:custGeom>
              <a:avLst/>
              <a:gdLst>
                <a:gd name="T0" fmla="*/ 0 w 3407"/>
                <a:gd name="T1" fmla="*/ 0 h 1965"/>
                <a:gd name="T2" fmla="*/ 1134 w 3407"/>
                <a:gd name="T3" fmla="*/ 1965 h 1965"/>
                <a:gd name="T4" fmla="*/ 3407 w 3407"/>
                <a:gd name="T5" fmla="*/ 1965 h 1965"/>
                <a:gd name="T6" fmla="*/ 0 w 3407"/>
                <a:gd name="T7" fmla="*/ 0 h 1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7" h="1965">
                  <a:moveTo>
                    <a:pt x="0" y="0"/>
                  </a:moveTo>
                  <a:lnTo>
                    <a:pt x="1134" y="1965"/>
                  </a:lnTo>
                  <a:lnTo>
                    <a:pt x="3407" y="19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33"/>
            <p:cNvSpPr/>
            <p:nvPr/>
          </p:nvSpPr>
          <p:spPr bwMode="auto">
            <a:xfrm>
              <a:off x="4946668" y="3016568"/>
              <a:ext cx="3439588" cy="1983795"/>
            </a:xfrm>
            <a:custGeom>
              <a:avLst/>
              <a:gdLst>
                <a:gd name="T0" fmla="*/ 3407 w 3407"/>
                <a:gd name="T1" fmla="*/ 0 h 1965"/>
                <a:gd name="T2" fmla="*/ 0 w 3407"/>
                <a:gd name="T3" fmla="*/ 1965 h 1965"/>
                <a:gd name="T4" fmla="*/ 2273 w 3407"/>
                <a:gd name="T5" fmla="*/ 1965 h 1965"/>
                <a:gd name="T6" fmla="*/ 3407 w 3407"/>
                <a:gd name="T7" fmla="*/ 0 h 1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07" h="1965">
                  <a:moveTo>
                    <a:pt x="3407" y="0"/>
                  </a:moveTo>
                  <a:lnTo>
                    <a:pt x="0" y="1965"/>
                  </a:lnTo>
                  <a:lnTo>
                    <a:pt x="2273" y="1965"/>
                  </a:lnTo>
                  <a:lnTo>
                    <a:pt x="3407" y="0"/>
                  </a:ln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31"/>
            <p:cNvSpPr/>
            <p:nvPr/>
          </p:nvSpPr>
          <p:spPr bwMode="auto">
            <a:xfrm>
              <a:off x="3798124" y="1016405"/>
              <a:ext cx="4524573" cy="3915581"/>
            </a:xfrm>
            <a:custGeom>
              <a:avLst/>
              <a:gdLst>
                <a:gd name="T0" fmla="*/ 2297 w 3061"/>
                <a:gd name="T1" fmla="*/ 0 h 2649"/>
                <a:gd name="T2" fmla="*/ 3061 w 3061"/>
                <a:gd name="T3" fmla="*/ 1325 h 2649"/>
                <a:gd name="T4" fmla="*/ 2297 w 3061"/>
                <a:gd name="T5" fmla="*/ 2649 h 2649"/>
                <a:gd name="T6" fmla="*/ 764 w 3061"/>
                <a:gd name="T7" fmla="*/ 2649 h 2649"/>
                <a:gd name="T8" fmla="*/ 0 w 3061"/>
                <a:gd name="T9" fmla="*/ 1325 h 2649"/>
                <a:gd name="T10" fmla="*/ 764 w 3061"/>
                <a:gd name="T11" fmla="*/ 0 h 2649"/>
                <a:gd name="T12" fmla="*/ 2297 w 3061"/>
                <a:gd name="T13" fmla="*/ 0 h 2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1" h="2649">
                  <a:moveTo>
                    <a:pt x="2297" y="0"/>
                  </a:moveTo>
                  <a:lnTo>
                    <a:pt x="3061" y="1325"/>
                  </a:lnTo>
                  <a:lnTo>
                    <a:pt x="2297" y="2649"/>
                  </a:lnTo>
                  <a:lnTo>
                    <a:pt x="764" y="2649"/>
                  </a:lnTo>
                  <a:lnTo>
                    <a:pt x="0" y="1325"/>
                  </a:lnTo>
                  <a:lnTo>
                    <a:pt x="764" y="0"/>
                  </a:lnTo>
                  <a:lnTo>
                    <a:pt x="229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33"/>
            <p:cNvSpPr/>
            <p:nvPr/>
          </p:nvSpPr>
          <p:spPr bwMode="auto">
            <a:xfrm>
              <a:off x="6059671" y="1016405"/>
              <a:ext cx="2263026" cy="1958530"/>
            </a:xfrm>
            <a:custGeom>
              <a:avLst/>
              <a:gdLst>
                <a:gd name="T0" fmla="*/ 767 w 1531"/>
                <a:gd name="T1" fmla="*/ 0 h 1325"/>
                <a:gd name="T2" fmla="*/ 767 w 1531"/>
                <a:gd name="T3" fmla="*/ 0 h 1325"/>
                <a:gd name="T4" fmla="*/ 0 w 1531"/>
                <a:gd name="T5" fmla="*/ 442 h 1325"/>
                <a:gd name="T6" fmla="*/ 1531 w 1531"/>
                <a:gd name="T7" fmla="*/ 1325 h 1325"/>
                <a:gd name="T8" fmla="*/ 767 w 1531"/>
                <a:gd name="T9" fmla="*/ 0 h 1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1" h="1325">
                  <a:moveTo>
                    <a:pt x="767" y="0"/>
                  </a:moveTo>
                  <a:lnTo>
                    <a:pt x="767" y="0"/>
                  </a:lnTo>
                  <a:lnTo>
                    <a:pt x="0" y="442"/>
                  </a:lnTo>
                  <a:lnTo>
                    <a:pt x="1531" y="1325"/>
                  </a:lnTo>
                  <a:lnTo>
                    <a:pt x="76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35"/>
            <p:cNvSpPr/>
            <p:nvPr/>
          </p:nvSpPr>
          <p:spPr bwMode="auto">
            <a:xfrm>
              <a:off x="3798124" y="2974934"/>
              <a:ext cx="3395277" cy="1957051"/>
            </a:xfrm>
            <a:custGeom>
              <a:avLst/>
              <a:gdLst>
                <a:gd name="T0" fmla="*/ 0 w 2297"/>
                <a:gd name="T1" fmla="*/ 0 h 1324"/>
                <a:gd name="T2" fmla="*/ 764 w 2297"/>
                <a:gd name="T3" fmla="*/ 1324 h 1324"/>
                <a:gd name="T4" fmla="*/ 2297 w 2297"/>
                <a:gd name="T5" fmla="*/ 1324 h 1324"/>
                <a:gd name="T6" fmla="*/ 764 w 2297"/>
                <a:gd name="T7" fmla="*/ 1324 h 1324"/>
                <a:gd name="T8" fmla="*/ 1530 w 2297"/>
                <a:gd name="T9" fmla="*/ 882 h 1324"/>
                <a:gd name="T10" fmla="*/ 0 w 2297"/>
                <a:gd name="T11" fmla="*/ 0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97" h="1324">
                  <a:moveTo>
                    <a:pt x="0" y="0"/>
                  </a:moveTo>
                  <a:lnTo>
                    <a:pt x="764" y="1324"/>
                  </a:lnTo>
                  <a:lnTo>
                    <a:pt x="2297" y="1324"/>
                  </a:lnTo>
                  <a:lnTo>
                    <a:pt x="764" y="1324"/>
                  </a:lnTo>
                  <a:lnTo>
                    <a:pt x="1530" y="88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37"/>
            <p:cNvSpPr/>
            <p:nvPr/>
          </p:nvSpPr>
          <p:spPr bwMode="auto">
            <a:xfrm>
              <a:off x="6059671" y="2974934"/>
              <a:ext cx="2263026" cy="1957051"/>
            </a:xfrm>
            <a:custGeom>
              <a:avLst/>
              <a:gdLst>
                <a:gd name="T0" fmla="*/ 1531 w 1531"/>
                <a:gd name="T1" fmla="*/ 0 h 1324"/>
                <a:gd name="T2" fmla="*/ 0 w 1531"/>
                <a:gd name="T3" fmla="*/ 882 h 1324"/>
                <a:gd name="T4" fmla="*/ 767 w 1531"/>
                <a:gd name="T5" fmla="*/ 1324 h 1324"/>
                <a:gd name="T6" fmla="*/ 1531 w 1531"/>
                <a:gd name="T7" fmla="*/ 0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31" h="1324">
                  <a:moveTo>
                    <a:pt x="1531" y="0"/>
                  </a:moveTo>
                  <a:lnTo>
                    <a:pt x="0" y="882"/>
                  </a:lnTo>
                  <a:lnTo>
                    <a:pt x="767" y="1324"/>
                  </a:lnTo>
                  <a:lnTo>
                    <a:pt x="153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39"/>
            <p:cNvSpPr/>
            <p:nvPr/>
          </p:nvSpPr>
          <p:spPr bwMode="auto">
            <a:xfrm>
              <a:off x="4927420" y="4278650"/>
              <a:ext cx="2265982" cy="653336"/>
            </a:xfrm>
            <a:custGeom>
              <a:avLst/>
              <a:gdLst>
                <a:gd name="T0" fmla="*/ 766 w 1533"/>
                <a:gd name="T1" fmla="*/ 0 h 442"/>
                <a:gd name="T2" fmla="*/ 0 w 1533"/>
                <a:gd name="T3" fmla="*/ 442 h 442"/>
                <a:gd name="T4" fmla="*/ 1533 w 1533"/>
                <a:gd name="T5" fmla="*/ 442 h 442"/>
                <a:gd name="T6" fmla="*/ 766 w 1533"/>
                <a:gd name="T7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33" h="442">
                  <a:moveTo>
                    <a:pt x="766" y="0"/>
                  </a:moveTo>
                  <a:lnTo>
                    <a:pt x="0" y="442"/>
                  </a:lnTo>
                  <a:lnTo>
                    <a:pt x="1533" y="442"/>
                  </a:lnTo>
                  <a:lnTo>
                    <a:pt x="7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41"/>
            <p:cNvSpPr/>
            <p:nvPr/>
          </p:nvSpPr>
          <p:spPr bwMode="auto">
            <a:xfrm>
              <a:off x="3798124" y="1016405"/>
              <a:ext cx="2261547" cy="1958530"/>
            </a:xfrm>
            <a:custGeom>
              <a:avLst/>
              <a:gdLst>
                <a:gd name="T0" fmla="*/ 764 w 1530"/>
                <a:gd name="T1" fmla="*/ 0 h 1325"/>
                <a:gd name="T2" fmla="*/ 764 w 1530"/>
                <a:gd name="T3" fmla="*/ 0 h 1325"/>
                <a:gd name="T4" fmla="*/ 0 w 1530"/>
                <a:gd name="T5" fmla="*/ 1325 h 1325"/>
                <a:gd name="T6" fmla="*/ 1530 w 1530"/>
                <a:gd name="T7" fmla="*/ 442 h 1325"/>
                <a:gd name="T8" fmla="*/ 764 w 1530"/>
                <a:gd name="T9" fmla="*/ 0 h 1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0" h="1325">
                  <a:moveTo>
                    <a:pt x="764" y="0"/>
                  </a:moveTo>
                  <a:lnTo>
                    <a:pt x="764" y="0"/>
                  </a:lnTo>
                  <a:lnTo>
                    <a:pt x="0" y="1325"/>
                  </a:lnTo>
                  <a:lnTo>
                    <a:pt x="1530" y="442"/>
                  </a:lnTo>
                  <a:lnTo>
                    <a:pt x="76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143"/>
            <p:cNvSpPr/>
            <p:nvPr/>
          </p:nvSpPr>
          <p:spPr bwMode="auto">
            <a:xfrm>
              <a:off x="4927420" y="1016405"/>
              <a:ext cx="2265982" cy="653336"/>
            </a:xfrm>
            <a:custGeom>
              <a:avLst/>
              <a:gdLst>
                <a:gd name="T0" fmla="*/ 1533 w 1533"/>
                <a:gd name="T1" fmla="*/ 0 h 442"/>
                <a:gd name="T2" fmla="*/ 0 w 1533"/>
                <a:gd name="T3" fmla="*/ 0 h 442"/>
                <a:gd name="T4" fmla="*/ 766 w 1533"/>
                <a:gd name="T5" fmla="*/ 442 h 442"/>
                <a:gd name="T6" fmla="*/ 1533 w 1533"/>
                <a:gd name="T7" fmla="*/ 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33" h="442">
                  <a:moveTo>
                    <a:pt x="1533" y="0"/>
                  </a:moveTo>
                  <a:lnTo>
                    <a:pt x="0" y="0"/>
                  </a:lnTo>
                  <a:lnTo>
                    <a:pt x="766" y="442"/>
                  </a:lnTo>
                  <a:lnTo>
                    <a:pt x="153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937455" y="2265015"/>
            <a:ext cx="4110326" cy="2215991"/>
            <a:chOff x="4444777" y="3648334"/>
            <a:chExt cx="4110326" cy="2215991"/>
          </a:xfrm>
        </p:grpSpPr>
        <p:sp>
          <p:nvSpPr>
            <p:cNvPr id="33" name="文本框 32"/>
            <p:cNvSpPr txBox="1"/>
            <p:nvPr/>
          </p:nvSpPr>
          <p:spPr>
            <a:xfrm>
              <a:off x="4937082" y="4904032"/>
              <a:ext cx="36180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pc="300" dirty="0">
                  <a:solidFill>
                    <a:srgbClr val="61B5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后期安排</a:t>
              </a:r>
              <a:endPara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444777" y="3648334"/>
              <a:ext cx="1295400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800" dirty="0">
                  <a:solidFill>
                    <a:srgbClr val="5DB6C3"/>
                  </a:solidFill>
                </a:rPr>
                <a:t>P</a:t>
              </a:r>
              <a:endParaRPr lang="zh-CN" altLang="en-US" sz="13800" dirty="0">
                <a:solidFill>
                  <a:srgbClr val="5DB6C3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541899" y="4511040"/>
              <a:ext cx="1332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5DB6C3"/>
                  </a:solidFill>
                </a:rPr>
                <a:t>art 04</a:t>
              </a:r>
              <a:endParaRPr lang="zh-CN" altLang="en-US" sz="2000" b="1" dirty="0">
                <a:solidFill>
                  <a:srgbClr val="5DB6C3"/>
                </a:solidFill>
              </a:endParaRPr>
            </a:p>
          </p:txBody>
        </p:sp>
      </p:grpSp>
      <p:sp>
        <p:nvSpPr>
          <p:cNvPr id="34" name="Freeform 167"/>
          <p:cNvSpPr>
            <a:spLocks noChangeArrowheads="1"/>
          </p:cNvSpPr>
          <p:nvPr/>
        </p:nvSpPr>
        <p:spPr bwMode="auto">
          <a:xfrm>
            <a:off x="8096844" y="3141512"/>
            <a:ext cx="462996" cy="462996"/>
          </a:xfrm>
          <a:custGeom>
            <a:avLst/>
            <a:gdLst>
              <a:gd name="T0" fmla="*/ 177 w 418"/>
              <a:gd name="T1" fmla="*/ 0 h 417"/>
              <a:gd name="T2" fmla="*/ 177 w 418"/>
              <a:gd name="T3" fmla="*/ 0 h 417"/>
              <a:gd name="T4" fmla="*/ 0 w 418"/>
              <a:gd name="T5" fmla="*/ 176 h 417"/>
              <a:gd name="T6" fmla="*/ 177 w 418"/>
              <a:gd name="T7" fmla="*/ 176 h 417"/>
              <a:gd name="T8" fmla="*/ 177 w 418"/>
              <a:gd name="T9" fmla="*/ 0 h 417"/>
              <a:gd name="T10" fmla="*/ 230 w 418"/>
              <a:gd name="T11" fmla="*/ 0 h 417"/>
              <a:gd name="T12" fmla="*/ 230 w 418"/>
              <a:gd name="T13" fmla="*/ 0 h 417"/>
              <a:gd name="T14" fmla="*/ 230 w 418"/>
              <a:gd name="T15" fmla="*/ 203 h 417"/>
              <a:gd name="T16" fmla="*/ 204 w 418"/>
              <a:gd name="T17" fmla="*/ 229 h 417"/>
              <a:gd name="T18" fmla="*/ 0 w 418"/>
              <a:gd name="T19" fmla="*/ 229 h 417"/>
              <a:gd name="T20" fmla="*/ 204 w 418"/>
              <a:gd name="T21" fmla="*/ 416 h 417"/>
              <a:gd name="T22" fmla="*/ 417 w 418"/>
              <a:gd name="T23" fmla="*/ 203 h 417"/>
              <a:gd name="T24" fmla="*/ 230 w 418"/>
              <a:gd name="T25" fmla="*/ 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18" h="417">
                <a:moveTo>
                  <a:pt x="177" y="0"/>
                </a:moveTo>
                <a:lnTo>
                  <a:pt x="177" y="0"/>
                </a:lnTo>
                <a:cubicBezTo>
                  <a:pt x="80" y="9"/>
                  <a:pt x="9" y="88"/>
                  <a:pt x="0" y="176"/>
                </a:cubicBezTo>
                <a:cubicBezTo>
                  <a:pt x="177" y="176"/>
                  <a:pt x="177" y="176"/>
                  <a:pt x="177" y="176"/>
                </a:cubicBezTo>
                <a:lnTo>
                  <a:pt x="177" y="0"/>
                </a:lnTo>
                <a:close/>
                <a:moveTo>
                  <a:pt x="230" y="0"/>
                </a:moveTo>
                <a:lnTo>
                  <a:pt x="230" y="0"/>
                </a:lnTo>
                <a:cubicBezTo>
                  <a:pt x="230" y="203"/>
                  <a:pt x="230" y="203"/>
                  <a:pt x="230" y="203"/>
                </a:cubicBezTo>
                <a:cubicBezTo>
                  <a:pt x="230" y="221"/>
                  <a:pt x="222" y="229"/>
                  <a:pt x="204" y="229"/>
                </a:cubicBezTo>
                <a:cubicBezTo>
                  <a:pt x="0" y="229"/>
                  <a:pt x="0" y="229"/>
                  <a:pt x="0" y="229"/>
                </a:cubicBezTo>
                <a:cubicBezTo>
                  <a:pt x="9" y="336"/>
                  <a:pt x="98" y="416"/>
                  <a:pt x="204" y="416"/>
                </a:cubicBezTo>
                <a:cubicBezTo>
                  <a:pt x="319" y="416"/>
                  <a:pt x="417" y="319"/>
                  <a:pt x="417" y="203"/>
                </a:cubicBezTo>
                <a:cubicBezTo>
                  <a:pt x="417" y="97"/>
                  <a:pt x="337" y="9"/>
                  <a:pt x="230" y="0"/>
                </a:cubicBezTo>
                <a:close/>
              </a:path>
            </a:pathLst>
          </a:custGeom>
          <a:solidFill>
            <a:srgbClr val="FFFFFF">
              <a:alpha val="4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defTabSz="534670"/>
            <a:endParaRPr lang="en-US" sz="2105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/>
          <a:srcRect l="651" t="3819" r="2203" b="12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" cstate="print"/>
          <a:srcRect t="50000"/>
          <a:stretch>
            <a:fillRect/>
          </a:stretch>
        </p:blipFill>
        <p:spPr>
          <a:xfrm>
            <a:off x="5552575" y="-1"/>
            <a:ext cx="1086850" cy="157723"/>
          </a:xfrm>
          <a:custGeom>
            <a:avLst/>
            <a:gdLst>
              <a:gd name="connsiteX0" fmla="*/ 0 w 4121253"/>
              <a:gd name="connsiteY0" fmla="*/ 0 h 1792380"/>
              <a:gd name="connsiteX1" fmla="*/ 4121253 w 4121253"/>
              <a:gd name="connsiteY1" fmla="*/ 0 h 1792380"/>
              <a:gd name="connsiteX2" fmla="*/ 4121253 w 4121253"/>
              <a:gd name="connsiteY2" fmla="*/ 1792380 h 1792380"/>
              <a:gd name="connsiteX3" fmla="*/ 0 w 4121253"/>
              <a:gd name="connsiteY3" fmla="*/ 1792380 h 179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253" h="1792380">
                <a:moveTo>
                  <a:pt x="0" y="0"/>
                </a:moveTo>
                <a:lnTo>
                  <a:pt x="4121253" y="0"/>
                </a:lnTo>
                <a:lnTo>
                  <a:pt x="4121253" y="1792380"/>
                </a:lnTo>
                <a:lnTo>
                  <a:pt x="0" y="1792380"/>
                </a:lnTo>
                <a:close/>
              </a:path>
            </a:pathLst>
          </a:custGeom>
        </p:spPr>
      </p:pic>
      <p:sp>
        <p:nvSpPr>
          <p:cNvPr id="75" name="矩形 74"/>
          <p:cNvSpPr/>
          <p:nvPr/>
        </p:nvSpPr>
        <p:spPr>
          <a:xfrm>
            <a:off x="5311171" y="219906"/>
            <a:ext cx="15696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后期安排</a:t>
            </a:r>
            <a:endParaRPr lang="zh-CN" altLang="en-US" sz="2400" b="1" spc="300" dirty="0">
              <a:solidFill>
                <a:srgbClr val="61B5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30680" y="1728470"/>
            <a:ext cx="884047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                                                              </a:t>
            </a:r>
            <a:r>
              <a:rPr lang="zh-CN" altLang="en-US" b="1"/>
              <a:t>三阶段规划蓝图</a:t>
            </a:r>
            <a:endParaRPr lang="zh-CN" altLang="en-US"/>
          </a:p>
          <a:p>
            <a:r>
              <a:rPr lang="zh-CN" altLang="en-US" b="1">
                <a:solidFill>
                  <a:srgbClr val="76A0A5"/>
                </a:solidFill>
              </a:rPr>
              <a:t>第一阶段：短期优化（</a:t>
            </a:r>
            <a:r>
              <a:rPr lang="en-US" altLang="zh-CN" b="1">
                <a:solidFill>
                  <a:srgbClr val="76A0A5"/>
                </a:solidFill>
              </a:rPr>
              <a:t>1-2</a:t>
            </a:r>
            <a:r>
              <a:rPr lang="zh-CN" altLang="en-US" b="1">
                <a:solidFill>
                  <a:srgbClr val="76A0A5"/>
                </a:solidFill>
              </a:rPr>
              <a:t>周）</a:t>
            </a:r>
            <a:endParaRPr lang="zh-CN" altLang="en-US" b="1">
              <a:solidFill>
                <a:srgbClr val="76A0A5"/>
              </a:solidFill>
            </a:endParaRPr>
          </a:p>
          <a:p>
            <a:r>
              <a:rPr lang="en-US" altLang="zh-CN"/>
              <a:t>• </a:t>
            </a:r>
            <a:r>
              <a:rPr lang="zh-CN" altLang="en-US"/>
              <a:t>完善</a:t>
            </a:r>
            <a:r>
              <a:rPr lang="en-US" altLang="zh-CN"/>
              <a:t> 3D </a:t>
            </a:r>
            <a:r>
              <a:rPr lang="zh-CN" altLang="en-US"/>
              <a:t>上传进度与模型预览功能，尝试引入简单的</a:t>
            </a:r>
            <a:r>
              <a:rPr lang="en-US" altLang="zh-CN"/>
              <a:t> AI </a:t>
            </a:r>
            <a:r>
              <a:rPr lang="zh-CN" altLang="en-US"/>
              <a:t>评分反馈。</a:t>
            </a:r>
            <a:endParaRPr lang="zh-CN" altLang="en-US"/>
          </a:p>
          <a:p>
            <a:r>
              <a:rPr lang="en-US" altLang="zh-CN"/>
              <a:t>• </a:t>
            </a:r>
            <a:r>
              <a:rPr lang="zh-CN" altLang="en-US"/>
              <a:t>性能优化：解决</a:t>
            </a:r>
            <a:r>
              <a:rPr lang="en-US" altLang="zh-CN"/>
              <a:t> N+1 </a:t>
            </a:r>
            <a:r>
              <a:rPr lang="zh-CN" altLang="en-US"/>
              <a:t>查询问题，添加</a:t>
            </a:r>
            <a:r>
              <a:rPr lang="en-US" altLang="zh-CN"/>
              <a:t> Redis </a:t>
            </a:r>
            <a:r>
              <a:rPr lang="zh-CN" altLang="en-US"/>
              <a:t>业务缓存，优化大批量数据分页。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>
                <a:solidFill>
                  <a:srgbClr val="76A0A5"/>
                </a:solidFill>
              </a:rPr>
              <a:t>第二阶段：中期扩展（</a:t>
            </a:r>
            <a:r>
              <a:rPr lang="en-US" altLang="zh-CN" b="1">
                <a:solidFill>
                  <a:srgbClr val="76A0A5"/>
                </a:solidFill>
              </a:rPr>
              <a:t>1-2</a:t>
            </a:r>
            <a:r>
              <a:rPr lang="zh-CN" altLang="en-US" b="1">
                <a:solidFill>
                  <a:srgbClr val="76A0A5"/>
                </a:solidFill>
              </a:rPr>
              <a:t>月）</a:t>
            </a:r>
            <a:endParaRPr lang="zh-CN" altLang="en-US" b="1">
              <a:solidFill>
                <a:srgbClr val="76A0A5"/>
              </a:solidFill>
            </a:endParaRPr>
          </a:p>
          <a:p>
            <a:r>
              <a:rPr lang="en-US" altLang="zh-CN"/>
              <a:t>• </a:t>
            </a:r>
            <a:r>
              <a:rPr lang="zh-CN" altLang="en-US"/>
              <a:t>功能完善：增强动态统计报表，完善</a:t>
            </a:r>
            <a:r>
              <a:rPr lang="en-US" altLang="zh-CN"/>
              <a:t> RBAC </a:t>
            </a:r>
            <a:r>
              <a:rPr lang="zh-CN" altLang="en-US"/>
              <a:t>细粒度权限控制，增加数据定时备份机制。</a:t>
            </a:r>
            <a:endParaRPr lang="zh-CN" altLang="en-US"/>
          </a:p>
          <a:p>
            <a:r>
              <a:rPr lang="en-US" altLang="zh-CN"/>
              <a:t>• </a:t>
            </a:r>
            <a:r>
              <a:rPr lang="zh-CN" altLang="en-US"/>
              <a:t>架构升级：引入</a:t>
            </a:r>
            <a:r>
              <a:rPr lang="en-US" altLang="zh-CN"/>
              <a:t> Elasticsearch </a:t>
            </a:r>
            <a:r>
              <a:rPr lang="zh-CN" altLang="en-US"/>
              <a:t>提升全网检索效率，集成消息队列以解耦异步任务。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>
                <a:solidFill>
                  <a:srgbClr val="76A0A5"/>
                </a:solidFill>
              </a:rPr>
              <a:t>第三阶段：长期规划（</a:t>
            </a:r>
            <a:r>
              <a:rPr lang="en-US" altLang="zh-CN" b="1">
                <a:solidFill>
                  <a:srgbClr val="76A0A5"/>
                </a:solidFill>
              </a:rPr>
              <a:t>3-6</a:t>
            </a:r>
            <a:r>
              <a:rPr lang="zh-CN" altLang="en-US" b="1">
                <a:solidFill>
                  <a:srgbClr val="76A0A5"/>
                </a:solidFill>
              </a:rPr>
              <a:t>月）</a:t>
            </a:r>
            <a:endParaRPr lang="zh-CN" altLang="en-US" b="1">
              <a:solidFill>
                <a:srgbClr val="76A0A5"/>
              </a:solidFill>
            </a:endParaRPr>
          </a:p>
          <a:p>
            <a:r>
              <a:rPr lang="en-US" altLang="zh-CN"/>
              <a:t>• </a:t>
            </a:r>
            <a:r>
              <a:rPr lang="zh-CN" altLang="en-US"/>
              <a:t>架构重构：逐步向微服务架构演进，实现容器化（</a:t>
            </a:r>
            <a:r>
              <a:rPr lang="en-US" altLang="zh-CN"/>
              <a:t>Docker/K8s</a:t>
            </a:r>
            <a:r>
              <a:rPr lang="zh-CN" altLang="en-US"/>
              <a:t>）的高可用部署。</a:t>
            </a:r>
            <a:endParaRPr lang="zh-CN" altLang="en-US"/>
          </a:p>
          <a:p>
            <a:r>
              <a:rPr lang="en-US" altLang="zh-CN"/>
              <a:t>• </a:t>
            </a:r>
            <a:r>
              <a:rPr lang="zh-CN" altLang="en-US"/>
              <a:t>创新探索：深化</a:t>
            </a:r>
            <a:r>
              <a:rPr lang="en-US" altLang="zh-CN"/>
              <a:t> AI </a:t>
            </a:r>
            <a:r>
              <a:rPr lang="zh-CN" altLang="en-US"/>
              <a:t>能力（如图像识别提取元数据），探索</a:t>
            </a:r>
            <a:r>
              <a:rPr lang="en-US" altLang="zh-CN"/>
              <a:t> AR/VR </a:t>
            </a:r>
            <a:r>
              <a:rPr lang="zh-CN" altLang="en-US"/>
              <a:t>沉浸式展示及移动端适配。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0" y="-217938"/>
            <a:ext cx="12550140" cy="7223759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4280458" y="2722608"/>
            <a:ext cx="3970968" cy="1317709"/>
            <a:chOff x="2885283" y="2201550"/>
            <a:chExt cx="3970968" cy="1317709"/>
          </a:xfrm>
        </p:grpSpPr>
        <p:sp>
          <p:nvSpPr>
            <p:cNvPr id="5" name="弧形 4"/>
            <p:cNvSpPr/>
            <p:nvPr/>
          </p:nvSpPr>
          <p:spPr>
            <a:xfrm>
              <a:off x="5675633" y="2201550"/>
              <a:ext cx="1180618" cy="1180618"/>
            </a:xfrm>
            <a:prstGeom prst="arc">
              <a:avLst>
                <a:gd name="adj1" fmla="val 10212009"/>
                <a:gd name="adj2" fmla="val 503905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885283" y="2474227"/>
              <a:ext cx="142049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400" b="1" spc="300" dirty="0">
                  <a:solidFill>
                    <a:srgbClr val="61B5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致谢</a:t>
              </a:r>
              <a:endParaRPr lang="zh-CN" altLang="en-US" sz="4400" b="1" spc="300" dirty="0">
                <a:solidFill>
                  <a:srgbClr val="61B5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885283" y="3243669"/>
              <a:ext cx="3538249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zh-CN" altLang="en-US" sz="1200" spc="300" dirty="0">
                <a:solidFill>
                  <a:srgbClr val="61B5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112200" y="2872884"/>
              <a:ext cx="14204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spc="300" dirty="0">
                  <a:solidFill>
                    <a:srgbClr val="61B5C0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THANKS</a:t>
              </a:r>
              <a:endParaRPr lang="zh-CN" altLang="en-US" sz="1400" spc="300" dirty="0">
                <a:solidFill>
                  <a:srgbClr val="61B5C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987441" y="3902522"/>
            <a:ext cx="3263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5DB6C3"/>
                </a:solidFill>
              </a:rPr>
              <a:t>请老师们批评指正</a:t>
            </a:r>
            <a:endParaRPr lang="zh-CN" altLang="en-US" sz="2400" dirty="0">
              <a:solidFill>
                <a:srgbClr val="5DB6C3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2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3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4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5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6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7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8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9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10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11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12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13.xml><?xml version="1.0" encoding="utf-8"?>
<p:tagLst xmlns:p="http://schemas.openxmlformats.org/presentationml/2006/main">
  <p:tag name="KSO_WM_DIAGRAM_VIRTUALLY_FRAME" val="{&quot;height&quot;:194.45228346456693,&quot;left&quot;:407.3474803149606,&quot;top&quot;:175.29881889763777,&quot;width&quot;:322.9318110236221}"/>
</p:tagLst>
</file>

<file path=ppt/tags/tag14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15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16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17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18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19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0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1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2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3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4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5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6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7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8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29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30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31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32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33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34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35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36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37.xml><?xml version="1.0" encoding="utf-8"?>
<p:tagLst xmlns:p="http://schemas.openxmlformats.org/presentationml/2006/main">
  <p:tag name="KSO_WM_DIAGRAM_VIRTUALLY_FRAME" val="{&quot;height&quot;:210.55173228346456,&quot;left&quot;:123.74157480314962,&quot;top&quot;:180.72417322834644,&quot;width&quot;:712.5169291338582}"/>
</p:tagLst>
</file>

<file path=ppt/tags/tag38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39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0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1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2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3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4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5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6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7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8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49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0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1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2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3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4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5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6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7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8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59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60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ags/tag61.xml><?xml version="1.0" encoding="utf-8"?>
<p:tagLst xmlns:p="http://schemas.openxmlformats.org/presentationml/2006/main">
  <p:tag name="KSO_WM_DIAGRAM_VIRTUALLY_FRAME" val="{&quot;height&quot;:210.5884251968504,&quot;left&quot;:123.74157480314962,&quot;top&quot;:180.68748031496062,&quot;width&quot;:712.5169291338582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ocer模板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3210</Words>
  <Application>WPS 演示</Application>
  <PresentationFormat>自定义</PresentationFormat>
  <Paragraphs>183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4" baseType="lpstr">
      <vt:lpstr>Arial</vt:lpstr>
      <vt:lpstr>宋体</vt:lpstr>
      <vt:lpstr>Wingdings</vt:lpstr>
      <vt:lpstr>方正剪纸简体</vt:lpstr>
      <vt:lpstr>微软雅黑</vt:lpstr>
      <vt:lpstr>Calibri</vt:lpstr>
      <vt:lpstr>Neris Thin</vt:lpstr>
      <vt:lpstr>Segoe Print</vt:lpstr>
      <vt:lpstr>Source Sans Pro</vt:lpstr>
      <vt:lpstr>Fira Sans SemiBold Italic</vt:lpstr>
      <vt:lpstr>Clear Sans</vt:lpstr>
      <vt:lpstr>Helvetica Light</vt:lpstr>
      <vt:lpstr>Calibri</vt:lpstr>
      <vt:lpstr>Arial Unicode MS</vt:lpstr>
      <vt:lpstr>U.S. 101</vt:lpstr>
      <vt:lpstr>微软雅黑 Light</vt:lpstr>
      <vt:lpstr>NumberOnly</vt:lpstr>
      <vt:lpstr>Helvetica Light</vt:lpstr>
      <vt:lpstr>方正剪纸简体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creator>PPTS</dc:creator>
  <cp:keywords>PPTS</cp:keywords>
  <dc:description>PPTS</dc:description>
  <dc:subject>PPTS</dc:subject>
  <cp:category>PPTS</cp:category>
  <cp:lastModifiedBy>呵</cp:lastModifiedBy>
  <cp:revision>84</cp:revision>
  <dcterms:created xsi:type="dcterms:W3CDTF">2016-02-24T10:59:00Z</dcterms:created>
  <dcterms:modified xsi:type="dcterms:W3CDTF">2026-04-29T13:41:54Z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A248EF53719C4638A0FEC1C7AE227063_12</vt:lpwstr>
  </property>
</Properties>
</file>